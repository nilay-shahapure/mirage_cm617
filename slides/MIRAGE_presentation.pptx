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7981af0f-b7a3-fcf3-a4e7-a1464322e0b5}">
          <p14:sldIdLst>
            <p14:sldId id="256"/>
          </p14:sldIdLst>
        </p14:section>
        <p14:section name="Problem and questions" id="{447149ee-9cc7-af54-0db3-5df20712bcab}">
          <p14:sldIdLst>
            <p14:sldId id="257"/>
            <p14:sldId id="258"/>
          </p14:sldIdLst>
        </p14:section>
        <p14:section name="Methods" id="{67cf251e-9ea2-3d69-50db-aea754cb1c57}">
          <p14:sldIdLst>
            <p14:sldId id="259"/>
          </p14:sldIdLst>
        </p14:section>
        <p14:section name="Results" id="{1332fecc-a13a-3c06-572e-f556f57e6f2d}">
          <p14:sldIdLst>
            <p14:sldId id="260"/>
            <p14:sldId id="261"/>
            <p14:sldId id="262"/>
            <p14:sldId id="263"/>
            <p14:sldId id="264"/>
            <p14:sldId id="265"/>
            <p14:sldId id="266"/>
          </p14:sldIdLst>
        </p14:section>
        <p14:section name="Discussion" id="{81d891dd-4361-0660-0353-8599f2efa491}">
          <p14:sldIdLst>
            <p14:sldId id="267"/>
            <p14:sldId id="268"/>
          </p14:sldIdLst>
        </p14:section>
        <p14:section name="Closing" id="{87d0d3fb-4482-83c7-2b74-793308b1c253}">
          <p14:sldIdLst>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Share of mandated potential</c:v>
                </c:pt>
              </c:strCache>
            </c:strRef>
          </c:tx>
          <c:spPr>
            <a:solidFill>
              <a:srgbClr val="2A78D6"/>
            </a:solidFill>
            <a:effectLst/>
          </c:spPr>
          <c:invertIfNegative val="0"/>
          <c:dLbls>
            <c:numFmt formatCode="0&quot;%&quot;" sourceLinked="0"/>
            <c:txPr>
              <a:bodyPr/>
              <a:lstStyle/>
              <a:p>
                <a:pPr>
                  <a:defRPr b="0" i="0" strike="noStrike" sz="1100" u="none">
                    <a:solidFill>
                      <a:srgbClr val="0B0B0B"/>
                    </a:solidFill>
                    <a:latin typeface="+mn-lt"/>
                  </a:defRPr>
                </a:pPr>
              </a:p>
            </c:txPr>
            <c:showLegendKey val="0"/>
            <c:showVal val="1"/>
            <c:showCatName val="0"/>
            <c:showSerName val="0"/>
            <c:showPercent val="0"/>
            <c:showBubbleSize val="0"/>
            <c:showLeaderLines val="0"/>
          </c:dLbls>
          <c:cat>
            <c:multiLvlStrRef>
              <c:f>Sheet1!$A$2:$A$5</c:f>
              <c:multiLvlStrCache>
                <c:ptCount val="4"/>
                <c:lvl>
                  <c:pt idx="0">
                    <c:v>Mandated</c:v>
                  </c:pt>
                  <c:pt idx="1">
                    <c:v>With a structure</c:v>
                  </c:pt>
                  <c:pt idx="2">
                    <c:v>Needing no repair</c:v>
                  </c:pt>
                  <c:pt idx="3">
                    <c:v>Delivered at observed ratio</c:v>
                  </c:pt>
                </c:lvl>
              </c:multiLvlStrCache>
            </c:multiLvlStrRef>
          </c:cat>
          <c:val>
            <c:numRef>
              <c:f>Sheet1!$B$2:$B$5</c:f>
              <c:numCache>
                <c:formatCode>General</c:formatCode>
                <c:ptCount val="4"/>
                <c:pt idx="0">
                  <c:v>100</c:v>
                </c:pt>
                <c:pt idx="1">
                  <c:v>59.6</c:v>
                </c:pt>
                <c:pt idx="2">
                  <c:v>45.6</c:v>
                </c:pt>
                <c:pt idx="3">
                  <c:v>12.7</c:v>
                </c:pt>
              </c:numCache>
            </c:numRef>
          </c:val>
        </c:ser>
        <c:dLbls>
          <c:numFmt formatCode="0&quot;%&quot;" sourceLinked="0"/>
          <c:txPr>
            <a:bodyPr/>
            <a:lstStyle/>
            <a:p>
              <a:pPr>
                <a:defRPr b="0" i="0" strike="noStrike" sz="1100" u="none">
                  <a:solidFill>
                    <a:srgbClr val="0B0B0B"/>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2514E"/>
                </a:solidFill>
                <a:latin typeface="+mn-lt"/>
              </a:defRPr>
            </a:pPr>
            <a:endParaRPr lang="en-US"/>
          </a:p>
        </c:txPr>
        <c:crossAx val="2094734552"/>
        <c:crosses val="autoZero"/>
        <c:auto val="1"/>
        <c:lblAlgn val="ctr"/>
        <c:noMultiLvlLbl val="1"/>
      </c:catAx>
      <c:valAx>
        <c:axId val="2094734552"/>
        <c:scaling>
          <c:orientation val="minMax"/>
          <c:max val="110"/>
          <c:min val="0"/>
        </c:scaling>
        <c:delete val="0"/>
        <c:axPos val="l"/>
        <c:majorGridlines>
          <c:spPr>
            <a:ln w="6350" cap="flat">
              <a:solidFill>
                <a:srgbClr val="E6E5E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2514E"/>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MIRAGE is a meta-analysis of published performance data for rooftop rainwater harvesting in Indian cities.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problem: compliance is enforced on paper, performance is not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four parallel searches and the logging rule: no number without a URL and a quote.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formula and why the tiers matter: the method the source used decides what the number means.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figure. Point out the blue observed points below the 1:4 line and the orange agency points at or above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inference: agency numbers are design numbers. The few metered sites are the only evidence of real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continuity with the midway check-in and explain each revision.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separate gaps: installation and functionality. Definitions differ between surveys; sample sizes in brackets.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cascade multiplies three independent figures. Say clearly that the last step uses the observed-tier median from a small sample.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to the course theme: infrastructure as a service that needs an operator, not a one-time artefact.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Cost does not explain the gap. Even at observed yield harvested water beats the tanker water the same cities buy in dry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argument and give the three recommendations.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plain about what the data can and cannot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Statement of contributions, as required for the final 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F2A3F"/>
        </a:solidFill>
      </p:bgPr>
    </p:bg>
    <p:spTree>
      <p:nvGrpSpPr>
        <p:cNvPr id="1" name=""/>
        <p:cNvGrpSpPr/>
        <p:nvPr/>
      </p:nvGrpSpPr>
      <p:grpSpPr>
        <a:xfrm>
          <a:off x="0" y="0"/>
          <a:ext cx="0" cy="0"/>
          <a:chOff x="0" y="0"/>
          <a:chExt cx="0" cy="0"/>
        </a:xfrm>
      </p:grpSpPr>
      <p:sp>
        <p:nvSpPr>
          <p:cNvPr id="2" name="Text 0"/>
          <p:cNvSpPr txBox="1"/>
          <p:nvPr/>
        </p:nvSpPr>
        <p:spPr>
          <a:xfrm>
            <a:off x="457200" y="4754880"/>
            <a:ext cx="4572000" cy="274320"/>
          </a:xfrm>
          <a:prstGeom prst="rect">
            <a:avLst/>
          </a:prstGeom>
          <a:noFill/>
          <a:ln/>
        </p:spPr>
        <p:txBody>
          <a:bodyPr wrap="square" lIns="0" tIns="0" rIns="0" bIns="0" rtlCol="0" anchor="ctr"/>
          <a:lstStyle/>
          <a:p>
            <a:pPr indent="0" marL="0">
              <a:buNone/>
            </a:pPr>
            <a:r>
              <a:rPr lang="en-US" sz="900" dirty="0">
                <a:solidFill>
                  <a:srgbClr val="8FB3D9"/>
                </a:solidFill>
              </a:rPr>
              <a:t>MIRAGE | CM617 course project</a:t>
            </a:r>
            <a:endParaRPr lang="en-US" sz="9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FB3D9"/>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lstStyle>
            <a:lvl1pPr indent="0" marL="0">
              <a:buNone/>
              <a:defRPr lang="en-US" sz="2600" b="1" dirty="0">
                <a:solidFill>
                  <a:schemeClr val="tx2"/>
                </a:solidFill>
              </a:defRPr>
            </a:lvl1pPr>
          </a:lstStyle>
          <a:p>
            <a:pPr indent="0" marL="0">
              <a:buNone/>
            </a:pPr>
            <a:endParaRPr lang="en-US" sz="2600" dirty="0"/>
          </a:p>
        </p:txBody>
      </p:sp>
      <p:sp>
        <p:nvSpPr>
          <p:cNvPr id="3" name="Text 0"/>
          <p:cNvSpPr txBox="1"/>
          <p:nvPr/>
        </p:nvSpPr>
        <p:spPr>
          <a:xfrm>
            <a:off x="457200" y="4754880"/>
            <a:ext cx="4572000" cy="274320"/>
          </a:xfrm>
          <a:prstGeom prst="rect">
            <a:avLst/>
          </a:prstGeom>
          <a:noFill/>
          <a:ln/>
        </p:spPr>
        <p:txBody>
          <a:bodyPr wrap="square" lIns="0" tIns="0" rIns="0" bIns="0" rtlCol="0" anchor="ctr"/>
          <a:lstStyle/>
          <a:p>
            <a:pPr indent="0" marL="0">
              <a:buNone/>
            </a:pPr>
            <a:r>
              <a:rPr lang="en-US" sz="900" dirty="0">
                <a:solidFill>
                  <a:schemeClr val="accent5"/>
                </a:solidFill>
              </a:rPr>
              <a:t>MIRAGE | CM617 course project</a:t>
            </a:r>
            <a:endParaRPr lang="en-US" sz="9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FB3D9"/>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822960"/>
            <a:ext cx="8046720" cy="91440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MIRAGE</a:t>
            </a:r>
            <a:endParaRPr lang="en-US" sz="5400" dirty="0"/>
          </a:p>
        </p:txBody>
      </p:sp>
      <p:sp>
        <p:nvSpPr>
          <p:cNvPr id="3" name="Text 1"/>
          <p:cNvSpPr txBox="1"/>
          <p:nvPr/>
        </p:nvSpPr>
        <p:spPr>
          <a:xfrm>
            <a:off x="548640" y="1737360"/>
            <a:ext cx="8046720" cy="548640"/>
          </a:xfrm>
          <a:prstGeom prst="rect">
            <a:avLst/>
          </a:prstGeom>
          <a:noFill/>
          <a:ln/>
        </p:spPr>
        <p:txBody>
          <a:bodyPr wrap="square" lIns="0" tIns="0" rIns="0" bIns="0" rtlCol="0" anchor="ctr"/>
          <a:lstStyle/>
          <a:p>
            <a:pPr indent="0" marL="0">
              <a:buNone/>
            </a:pPr>
            <a:r>
              <a:rPr lang="en-US" sz="2400" dirty="0">
                <a:solidFill>
                  <a:srgbClr val="CADCFC"/>
                </a:solidFill>
              </a:rPr>
              <a:t>Measuring the Impact and Reality of Rainwater Harvesting Mandates</a:t>
            </a:r>
            <a:endParaRPr lang="en-US" sz="2400" dirty="0"/>
          </a:p>
        </p:txBody>
      </p:sp>
      <p:sp>
        <p:nvSpPr>
          <p:cNvPr id="4" name="Text 2"/>
          <p:cNvSpPr txBox="1"/>
          <p:nvPr/>
        </p:nvSpPr>
        <p:spPr>
          <a:xfrm>
            <a:off x="548640" y="2286000"/>
            <a:ext cx="8046720" cy="457200"/>
          </a:xfrm>
          <a:prstGeom prst="rect">
            <a:avLst/>
          </a:prstGeom>
          <a:noFill/>
          <a:ln/>
        </p:spPr>
        <p:txBody>
          <a:bodyPr wrap="square" lIns="0" tIns="0" rIns="0" bIns="0" rtlCol="0" anchor="ctr"/>
          <a:lstStyle/>
          <a:p>
            <a:pPr indent="0" marL="0">
              <a:buNone/>
            </a:pPr>
            <a:r>
              <a:rPr lang="en-US" sz="1600" dirty="0">
                <a:solidFill>
                  <a:srgbClr val="8FB3D9"/>
                </a:solidFill>
              </a:rPr>
              <a:t>A meta-analysis of rooftop rainwater harvesting performance in Indian cities</a:t>
            </a:r>
            <a:endParaRPr lang="en-US" sz="1600" dirty="0"/>
          </a:p>
        </p:txBody>
      </p:sp>
      <p:sp>
        <p:nvSpPr>
          <p:cNvPr id="5" name="Text 3"/>
          <p:cNvSpPr txBox="1"/>
          <p:nvPr/>
        </p:nvSpPr>
        <p:spPr>
          <a:xfrm>
            <a:off x="548640" y="3291840"/>
            <a:ext cx="8046720" cy="365760"/>
          </a:xfrm>
          <a:prstGeom prst="rect">
            <a:avLst/>
          </a:prstGeom>
          <a:noFill/>
          <a:ln/>
        </p:spPr>
        <p:txBody>
          <a:bodyPr wrap="square" lIns="0" tIns="0" rIns="0" bIns="0" rtlCol="0" anchor="ctr"/>
          <a:lstStyle/>
          <a:p>
            <a:pPr indent="0" marL="0">
              <a:buNone/>
            </a:pPr>
            <a:r>
              <a:rPr lang="en-US" sz="1300" dirty="0">
                <a:solidFill>
                  <a:srgbClr val="FFFFFF"/>
                </a:solidFill>
              </a:rPr>
              <a:t>Vedant Abhangrao (23B2262)  |  Nilay Shahapure (23B2206)  |  Arjun Jhunjhunwala (23B1245)  |  Yash Krishnani (23B1240)</a:t>
            </a:r>
            <a:endParaRPr lang="en-US" sz="1300" dirty="0"/>
          </a:p>
        </p:txBody>
      </p:sp>
      <p:sp>
        <p:nvSpPr>
          <p:cNvPr id="6" name="Text 4"/>
          <p:cNvSpPr txBox="1"/>
          <p:nvPr/>
        </p:nvSpPr>
        <p:spPr>
          <a:xfrm>
            <a:off x="548640" y="3657600"/>
            <a:ext cx="8046720" cy="365760"/>
          </a:xfrm>
          <a:prstGeom prst="rect">
            <a:avLst/>
          </a:prstGeom>
          <a:noFill/>
          <a:ln/>
        </p:spPr>
        <p:txBody>
          <a:bodyPr wrap="square" lIns="0" tIns="0" rIns="0" bIns="0" rtlCol="0" anchor="ctr"/>
          <a:lstStyle/>
          <a:p>
            <a:pPr indent="0" marL="0">
              <a:buNone/>
            </a:pPr>
            <a:r>
              <a:rPr lang="en-US" sz="1200" dirty="0">
                <a:solidFill>
                  <a:srgbClr val="8FB3D9"/>
                </a:solidFill>
              </a:rPr>
              <a:t>CM617 Sustainability Principles and Practices, IIT Bombay. Pathway 1: Sustainability Research. Sector: Water.</a:t>
            </a:r>
            <a:endParaRPr lang="en-US" sz="12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FB3D9"/>
                </a:solidFill>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2600" b="1" dirty="0">
                <a:solidFill>
                  <a:schemeClr val="tx2"/>
                </a:solidFill>
              </a:rPr>
              <a:t>Twenty years of mandates, almost no measurement</a:t>
            </a:r>
            <a:endParaRPr lang="en-US" sz="2600" dirty="0"/>
          </a:p>
        </p:txBody>
      </p:sp>
      <p:sp>
        <p:nvSpPr>
          <p:cNvPr id="3" name="Text 1"/>
          <p:cNvSpPr txBox="1"/>
          <p:nvPr/>
        </p:nvSpPr>
        <p:spPr>
          <a:xfrm>
            <a:off x="457200" y="1097280"/>
            <a:ext cx="2560320" cy="731520"/>
          </a:xfrm>
          <a:prstGeom prst="rect">
            <a:avLst/>
          </a:prstGeom>
          <a:noFill/>
          <a:ln/>
        </p:spPr>
        <p:txBody>
          <a:bodyPr wrap="square" lIns="0" tIns="0" rIns="0" bIns="0" rtlCol="0" anchor="b"/>
          <a:lstStyle/>
          <a:p>
            <a:pPr algn="l" indent="0" marL="0">
              <a:buNone/>
            </a:pPr>
            <a:r>
              <a:rPr lang="en-US" sz="4000" b="1" dirty="0">
                <a:solidFill>
                  <a:schemeClr val="accent1"/>
                </a:solidFill>
              </a:rPr>
              <a:t>2003</a:t>
            </a:r>
            <a:endParaRPr lang="en-US" sz="4000" dirty="0"/>
          </a:p>
        </p:txBody>
      </p:sp>
      <p:sp>
        <p:nvSpPr>
          <p:cNvPr id="4" name="Text 2"/>
          <p:cNvSpPr txBox="1"/>
          <p:nvPr/>
        </p:nvSpPr>
        <p:spPr>
          <a:xfrm>
            <a:off x="457200" y="1847088"/>
            <a:ext cx="2560320" cy="640080"/>
          </a:xfrm>
          <a:prstGeom prst="rect">
            <a:avLst/>
          </a:prstGeom>
          <a:noFill/>
          <a:ln/>
        </p:spPr>
        <p:txBody>
          <a:bodyPr wrap="square" lIns="0" tIns="0" rIns="0" bIns="0" rtlCol="0" anchor="t"/>
          <a:lstStyle/>
          <a:p>
            <a:pPr indent="0" marL="0">
              <a:buNone/>
            </a:pPr>
            <a:r>
              <a:rPr lang="en-US" sz="1200" dirty="0">
                <a:solidFill>
                  <a:schemeClr val="accent4"/>
                </a:solidFill>
              </a:rPr>
              <a:t>Chennai makes RWH compulsory for every building; Bengaluru, Delhi, Mumbai and 20+ others follow</a:t>
            </a:r>
            <a:endParaRPr lang="en-US" sz="1200" dirty="0"/>
          </a:p>
        </p:txBody>
      </p:sp>
      <p:sp>
        <p:nvSpPr>
          <p:cNvPr id="5" name="Text 3"/>
          <p:cNvSpPr txBox="1"/>
          <p:nvPr/>
        </p:nvSpPr>
        <p:spPr>
          <a:xfrm>
            <a:off x="3291840" y="1097280"/>
            <a:ext cx="2560320" cy="731520"/>
          </a:xfrm>
          <a:prstGeom prst="rect">
            <a:avLst/>
          </a:prstGeom>
          <a:noFill/>
          <a:ln/>
        </p:spPr>
        <p:txBody>
          <a:bodyPr wrap="square" lIns="0" tIns="0" rIns="0" bIns="0" rtlCol="0" anchor="b"/>
          <a:lstStyle/>
          <a:p>
            <a:pPr algn="l" indent="0" marL="0">
              <a:buNone/>
            </a:pPr>
            <a:r>
              <a:rPr lang="en-US" sz="4000" b="1" dirty="0">
                <a:solidFill>
                  <a:schemeClr val="accent1"/>
                </a:solidFill>
              </a:rPr>
              <a:t>33</a:t>
            </a:r>
            <a:endParaRPr lang="en-US" sz="4000" dirty="0"/>
          </a:p>
        </p:txBody>
      </p:sp>
      <p:sp>
        <p:nvSpPr>
          <p:cNvPr id="6" name="Text 4"/>
          <p:cNvSpPr txBox="1"/>
          <p:nvPr/>
        </p:nvSpPr>
        <p:spPr>
          <a:xfrm>
            <a:off x="3291840" y="1847088"/>
            <a:ext cx="2560320" cy="640080"/>
          </a:xfrm>
          <a:prstGeom prst="rect">
            <a:avLst/>
          </a:prstGeom>
          <a:noFill/>
          <a:ln/>
        </p:spPr>
        <p:txBody>
          <a:bodyPr wrap="square" lIns="0" tIns="0" rIns="0" bIns="0" rtlCol="0" anchor="t"/>
          <a:lstStyle/>
          <a:p>
            <a:pPr indent="0" marL="0">
              <a:buNone/>
            </a:pPr>
            <a:r>
              <a:rPr lang="en-US" sz="1200" dirty="0">
                <a:solidFill>
                  <a:schemeClr val="accent4"/>
                </a:solidFill>
              </a:rPr>
              <a:t>states and union territories have adopted the Model Building Bye-Laws 2016 RWH provision</a:t>
            </a:r>
            <a:endParaRPr lang="en-US" sz="1200" dirty="0"/>
          </a:p>
        </p:txBody>
      </p:sp>
      <p:sp>
        <p:nvSpPr>
          <p:cNvPr id="7" name="Text 5"/>
          <p:cNvSpPr txBox="1"/>
          <p:nvPr/>
        </p:nvSpPr>
        <p:spPr>
          <a:xfrm>
            <a:off x="6126480" y="1097280"/>
            <a:ext cx="2560320" cy="731520"/>
          </a:xfrm>
          <a:prstGeom prst="rect">
            <a:avLst/>
          </a:prstGeom>
          <a:noFill/>
          <a:ln/>
        </p:spPr>
        <p:txBody>
          <a:bodyPr wrap="square" lIns="0" tIns="0" rIns="0" bIns="0" rtlCol="0" anchor="b"/>
          <a:lstStyle/>
          <a:p>
            <a:pPr algn="l" indent="0" marL="0">
              <a:buNone/>
            </a:pPr>
            <a:r>
              <a:rPr lang="en-US" sz="4000" b="1" dirty="0">
                <a:solidFill>
                  <a:schemeClr val="accent2"/>
                </a:solidFill>
              </a:rPr>
              <a:t>None</a:t>
            </a:r>
            <a:endParaRPr lang="en-US" sz="4000" dirty="0"/>
          </a:p>
        </p:txBody>
      </p:sp>
      <p:sp>
        <p:nvSpPr>
          <p:cNvPr id="8" name="Text 6"/>
          <p:cNvSpPr txBox="1"/>
          <p:nvPr/>
        </p:nvSpPr>
        <p:spPr>
          <a:xfrm>
            <a:off x="6126480" y="1847088"/>
            <a:ext cx="2560320" cy="640080"/>
          </a:xfrm>
          <a:prstGeom prst="rect">
            <a:avLst/>
          </a:prstGeom>
          <a:noFill/>
          <a:ln/>
        </p:spPr>
        <p:txBody>
          <a:bodyPr wrap="square" lIns="0" tIns="0" rIns="0" bIns="0" rtlCol="0" anchor="t"/>
          <a:lstStyle/>
          <a:p>
            <a:pPr indent="0" marL="0">
              <a:buNone/>
            </a:pPr>
            <a:r>
              <a:rPr lang="en-US" sz="1200" dirty="0">
                <a:solidFill>
                  <a:schemeClr val="accent4"/>
                </a:solidFill>
              </a:rPr>
              <a:t>consolidated quantitative syntheses of what installed systems deliver that we could find</a:t>
            </a:r>
            <a:endParaRPr lang="en-US" sz="1200" dirty="0"/>
          </a:p>
        </p:txBody>
      </p:sp>
      <p:sp>
        <p:nvSpPr>
          <p:cNvPr id="9" name="Shape 7"/>
          <p:cNvSpPr/>
          <p:nvPr/>
        </p:nvSpPr>
        <p:spPr>
          <a:xfrm>
            <a:off x="457200" y="2743200"/>
            <a:ext cx="8229600" cy="1737360"/>
          </a:xfrm>
          <a:prstGeom prst="roundRect">
            <a:avLst>
              <a:gd name="adj" fmla="val 4211"/>
            </a:avLst>
          </a:prstGeom>
          <a:solidFill>
            <a:srgbClr val="EEF3FB"/>
          </a:solidFill>
          <a:ln w="12700">
            <a:solidFill>
              <a:srgbClr val="EEF3FB"/>
            </a:solidFill>
            <a:prstDash val="solid"/>
          </a:ln>
        </p:spPr>
      </p:sp>
      <p:sp>
        <p:nvSpPr>
          <p:cNvPr id="10" name="Text 8"/>
          <p:cNvSpPr txBox="1"/>
          <p:nvPr/>
        </p:nvSpPr>
        <p:spPr>
          <a:xfrm>
            <a:off x="594360" y="2834640"/>
            <a:ext cx="7955280" cy="365760"/>
          </a:xfrm>
          <a:prstGeom prst="rect">
            <a:avLst/>
          </a:prstGeom>
          <a:noFill/>
          <a:ln/>
        </p:spPr>
        <p:txBody>
          <a:bodyPr wrap="square" lIns="0" tIns="0" rIns="0" bIns="0" rtlCol="0" anchor="ctr"/>
          <a:lstStyle/>
          <a:p>
            <a:pPr indent="0" marL="0">
              <a:buNone/>
            </a:pPr>
            <a:r>
              <a:rPr lang="en-US" sz="1400" b="1" dirty="0">
                <a:solidFill>
                  <a:schemeClr val="tx2"/>
                </a:solidFill>
              </a:rPr>
              <a:t>The gap in the evidence</a:t>
            </a:r>
            <a:endParaRPr lang="en-US" sz="1400" dirty="0"/>
          </a:p>
        </p:txBody>
      </p:sp>
      <p:sp>
        <p:nvSpPr>
          <p:cNvPr id="11" name="Text 9"/>
          <p:cNvSpPr txBox="1"/>
          <p:nvPr/>
        </p:nvSpPr>
        <p:spPr>
          <a:xfrm>
            <a:off x="594360" y="3200400"/>
            <a:ext cx="7955280" cy="1188720"/>
          </a:xfrm>
          <a:prstGeom prst="rect">
            <a:avLst/>
          </a:prstGeom>
          <a:noFill/>
          <a:ln/>
        </p:spPr>
        <p:txBody>
          <a:bodyPr wrap="square" lIns="0" tIns="0" rIns="0" bIns="0" rtlCol="0" anchor="t"/>
          <a:lstStyle/>
          <a:p>
            <a:pPr indent="0" marL="0">
              <a:spcAft>
                <a:spcPts val="400"/>
              </a:spcAft>
              <a:buNone/>
            </a:pPr>
            <a:r>
              <a:rPr lang="en-US" sz="1150" dirty="0">
                <a:solidFill>
                  <a:schemeClr val="tx1"/>
                </a:solidFill>
              </a:rPr>
              <a:t>Mandates are enforced at plan approval: no completion certificate or water connection without a structure. After that, checks are rare and results are not published. Single-building case studies, agency demonstration reports and newspaper audits exist, but we found no study that combines them. MIRAGE collects the published numbers, puts them on one scale and asks what the mandate delivers.</a:t>
            </a:r>
            <a:endParaRPr lang="en-US" sz="115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2600" b="1" dirty="0">
                <a:solidFill>
                  <a:schemeClr val="tx2"/>
                </a:solidFill>
              </a:rPr>
              <a:t>Three questions, four searches</a:t>
            </a:r>
            <a:endParaRPr lang="en-US" sz="2600" dirty="0"/>
          </a:p>
        </p:txBody>
      </p:sp>
      <p:sp>
        <p:nvSpPr>
          <p:cNvPr id="3" name="Shape 1"/>
          <p:cNvSpPr/>
          <p:nvPr/>
        </p:nvSpPr>
        <p:spPr>
          <a:xfrm>
            <a:off x="457200" y="1051560"/>
            <a:ext cx="2651760" cy="1554480"/>
          </a:xfrm>
          <a:prstGeom prst="roundRect">
            <a:avLst>
              <a:gd name="adj" fmla="val 4706"/>
            </a:avLst>
          </a:prstGeom>
          <a:solidFill>
            <a:srgbClr val="EEF3FB"/>
          </a:solidFill>
          <a:ln w="12700">
            <a:solidFill>
              <a:srgbClr val="EEF3FB"/>
            </a:solidFill>
            <a:prstDash val="solid"/>
          </a:ln>
        </p:spPr>
      </p:sp>
      <p:sp>
        <p:nvSpPr>
          <p:cNvPr id="4" name="Text 2"/>
          <p:cNvSpPr txBox="1"/>
          <p:nvPr/>
        </p:nvSpPr>
        <p:spPr>
          <a:xfrm>
            <a:off x="594360" y="1143000"/>
            <a:ext cx="2377440" cy="365760"/>
          </a:xfrm>
          <a:prstGeom prst="rect">
            <a:avLst/>
          </a:prstGeom>
          <a:noFill/>
          <a:ln/>
        </p:spPr>
        <p:txBody>
          <a:bodyPr wrap="square" lIns="0" tIns="0" rIns="0" bIns="0" rtlCol="0" anchor="ctr"/>
          <a:lstStyle/>
          <a:p>
            <a:pPr indent="0" marL="0">
              <a:buNone/>
            </a:pPr>
            <a:r>
              <a:rPr lang="en-US" sz="1400" b="1" dirty="0">
                <a:solidFill>
                  <a:schemeClr val="tx2"/>
                </a:solidFill>
              </a:rPr>
              <a:t>Q1. Performance gap</a:t>
            </a:r>
            <a:endParaRPr lang="en-US" sz="1400" dirty="0"/>
          </a:p>
        </p:txBody>
      </p:sp>
      <p:sp>
        <p:nvSpPr>
          <p:cNvPr id="5" name="Text 3"/>
          <p:cNvSpPr txBox="1"/>
          <p:nvPr/>
        </p:nvSpPr>
        <p:spPr>
          <a:xfrm>
            <a:off x="594360" y="1508760"/>
            <a:ext cx="2377440" cy="1005840"/>
          </a:xfrm>
          <a:prstGeom prst="rect">
            <a:avLst/>
          </a:prstGeom>
          <a:noFill/>
          <a:ln/>
        </p:spPr>
        <p:txBody>
          <a:bodyPr wrap="square" lIns="0" tIns="0" rIns="0" bIns="0" rtlCol="0" anchor="t"/>
          <a:lstStyle/>
          <a:p>
            <a:pPr indent="0" marL="0">
              <a:spcAft>
                <a:spcPts val="400"/>
              </a:spcAft>
              <a:buNone/>
            </a:pPr>
            <a:r>
              <a:rPr lang="en-US" sz="1150" dirty="0">
                <a:solidFill>
                  <a:schemeClr val="tx1"/>
                </a:solidFill>
              </a:rPr>
              <a:t>How much of the theoretical rooftop potential do documented systems actually harvest or recharge?</a:t>
            </a:r>
            <a:endParaRPr lang="en-US" sz="1150" dirty="0"/>
          </a:p>
        </p:txBody>
      </p:sp>
      <p:sp>
        <p:nvSpPr>
          <p:cNvPr id="6" name="Shape 4"/>
          <p:cNvSpPr/>
          <p:nvPr/>
        </p:nvSpPr>
        <p:spPr>
          <a:xfrm>
            <a:off x="3246120" y="1051560"/>
            <a:ext cx="2651760" cy="1554480"/>
          </a:xfrm>
          <a:prstGeom prst="roundRect">
            <a:avLst>
              <a:gd name="adj" fmla="val 4706"/>
            </a:avLst>
          </a:prstGeom>
          <a:solidFill>
            <a:srgbClr val="EEF3FB"/>
          </a:solidFill>
          <a:ln w="12700">
            <a:solidFill>
              <a:srgbClr val="EEF3FB"/>
            </a:solidFill>
            <a:prstDash val="solid"/>
          </a:ln>
        </p:spPr>
      </p:sp>
      <p:sp>
        <p:nvSpPr>
          <p:cNvPr id="7" name="Text 5"/>
          <p:cNvSpPr txBox="1"/>
          <p:nvPr/>
        </p:nvSpPr>
        <p:spPr>
          <a:xfrm>
            <a:off x="3383280" y="1143000"/>
            <a:ext cx="2377440" cy="365760"/>
          </a:xfrm>
          <a:prstGeom prst="rect">
            <a:avLst/>
          </a:prstGeom>
          <a:noFill/>
          <a:ln/>
        </p:spPr>
        <p:txBody>
          <a:bodyPr wrap="square" lIns="0" tIns="0" rIns="0" bIns="0" rtlCol="0" anchor="ctr"/>
          <a:lstStyle/>
          <a:p>
            <a:pPr indent="0" marL="0">
              <a:buNone/>
            </a:pPr>
            <a:r>
              <a:rPr lang="en-US" sz="1400" b="1" dirty="0">
                <a:solidFill>
                  <a:schemeClr val="tx2"/>
                </a:solidFill>
              </a:rPr>
              <a:t>Q2. Functionality</a:t>
            </a:r>
            <a:endParaRPr lang="en-US" sz="1400" dirty="0"/>
          </a:p>
        </p:txBody>
      </p:sp>
      <p:sp>
        <p:nvSpPr>
          <p:cNvPr id="8" name="Text 6"/>
          <p:cNvSpPr txBox="1"/>
          <p:nvPr/>
        </p:nvSpPr>
        <p:spPr>
          <a:xfrm>
            <a:off x="3383280" y="1508760"/>
            <a:ext cx="2377440" cy="1005840"/>
          </a:xfrm>
          <a:prstGeom prst="rect">
            <a:avLst/>
          </a:prstGeom>
          <a:noFill/>
          <a:ln/>
        </p:spPr>
        <p:txBody>
          <a:bodyPr wrap="square" lIns="0" tIns="0" rIns="0" bIns="0" rtlCol="0" anchor="t"/>
          <a:lstStyle/>
          <a:p>
            <a:pPr indent="0" marL="0">
              <a:spcAft>
                <a:spcPts val="400"/>
              </a:spcAft>
              <a:buNone/>
            </a:pPr>
            <a:r>
              <a:rPr lang="en-US" sz="1150" dirty="0">
                <a:solidFill>
                  <a:schemeClr val="tx1"/>
                </a:solidFill>
              </a:rPr>
              <a:t>What share of installed systems stay functional, and why do they fail?</a:t>
            </a:r>
            <a:endParaRPr lang="en-US" sz="1150" dirty="0"/>
          </a:p>
        </p:txBody>
      </p:sp>
      <p:sp>
        <p:nvSpPr>
          <p:cNvPr id="9" name="Shape 7"/>
          <p:cNvSpPr/>
          <p:nvPr/>
        </p:nvSpPr>
        <p:spPr>
          <a:xfrm>
            <a:off x="6035040" y="1051560"/>
            <a:ext cx="2651760" cy="1554480"/>
          </a:xfrm>
          <a:prstGeom prst="roundRect">
            <a:avLst>
              <a:gd name="adj" fmla="val 4706"/>
            </a:avLst>
          </a:prstGeom>
          <a:solidFill>
            <a:srgbClr val="EEF3FB"/>
          </a:solidFill>
          <a:ln w="12700">
            <a:solidFill>
              <a:srgbClr val="EEF3FB"/>
            </a:solidFill>
            <a:prstDash val="solid"/>
          </a:ln>
        </p:spPr>
      </p:sp>
      <p:sp>
        <p:nvSpPr>
          <p:cNvPr id="10" name="Text 8"/>
          <p:cNvSpPr txBox="1"/>
          <p:nvPr/>
        </p:nvSpPr>
        <p:spPr>
          <a:xfrm>
            <a:off x="6172200" y="1143000"/>
            <a:ext cx="2377440" cy="365760"/>
          </a:xfrm>
          <a:prstGeom prst="rect">
            <a:avLst/>
          </a:prstGeom>
          <a:noFill/>
          <a:ln/>
        </p:spPr>
        <p:txBody>
          <a:bodyPr wrap="square" lIns="0" tIns="0" rIns="0" bIns="0" rtlCol="0" anchor="ctr"/>
          <a:lstStyle/>
          <a:p>
            <a:pPr indent="0" marL="0">
              <a:buNone/>
            </a:pPr>
            <a:r>
              <a:rPr lang="en-US" sz="1400" b="1" dirty="0">
                <a:solidFill>
                  <a:schemeClr val="tx2"/>
                </a:solidFill>
              </a:rPr>
              <a:t>Q3. Cost</a:t>
            </a:r>
            <a:endParaRPr lang="en-US" sz="1400" dirty="0"/>
          </a:p>
        </p:txBody>
      </p:sp>
      <p:sp>
        <p:nvSpPr>
          <p:cNvPr id="11" name="Text 9"/>
          <p:cNvSpPr txBox="1"/>
          <p:nvPr/>
        </p:nvSpPr>
        <p:spPr>
          <a:xfrm>
            <a:off x="6172200" y="1508760"/>
            <a:ext cx="2377440" cy="1005840"/>
          </a:xfrm>
          <a:prstGeom prst="rect">
            <a:avLst/>
          </a:prstGeom>
          <a:noFill/>
          <a:ln/>
        </p:spPr>
        <p:txBody>
          <a:bodyPr wrap="square" lIns="0" tIns="0" rIns="0" bIns="0" rtlCol="0" anchor="t"/>
          <a:lstStyle/>
          <a:p>
            <a:pPr indent="0" marL="0">
              <a:spcAft>
                <a:spcPts val="400"/>
              </a:spcAft>
              <a:buNone/>
            </a:pPr>
            <a:r>
              <a:rPr lang="en-US" sz="1150" dirty="0">
                <a:solidFill>
                  <a:schemeClr val="tx1"/>
                </a:solidFill>
              </a:rPr>
              <a:t>What does harvested water cost per kilolitre compared with piped, desalinated and tanker water?</a:t>
            </a:r>
            <a:endParaRPr lang="en-US" sz="1150" dirty="0"/>
          </a:p>
        </p:txBody>
      </p:sp>
      <p:sp>
        <p:nvSpPr>
          <p:cNvPr id="12" name="Text 10"/>
          <p:cNvSpPr txBox="1"/>
          <p:nvPr/>
        </p:nvSpPr>
        <p:spPr>
          <a:xfrm>
            <a:off x="457200" y="2834640"/>
            <a:ext cx="2011680" cy="731520"/>
          </a:xfrm>
          <a:prstGeom prst="rect">
            <a:avLst/>
          </a:prstGeom>
          <a:noFill/>
          <a:ln/>
        </p:spPr>
        <p:txBody>
          <a:bodyPr wrap="square" lIns="0" tIns="0" rIns="0" bIns="0" rtlCol="0" anchor="b"/>
          <a:lstStyle/>
          <a:p>
            <a:pPr algn="l" indent="0" marL="0">
              <a:buNone/>
            </a:pPr>
            <a:r>
              <a:rPr lang="en-US" sz="4000" b="1" dirty="0">
                <a:solidFill>
                  <a:schemeClr val="accent1"/>
                </a:solidFill>
              </a:rPr>
              <a:t>89</a:t>
            </a:r>
            <a:endParaRPr lang="en-US" sz="4000" dirty="0"/>
          </a:p>
        </p:txBody>
      </p:sp>
      <p:sp>
        <p:nvSpPr>
          <p:cNvPr id="13" name="Text 11"/>
          <p:cNvSpPr txBox="1"/>
          <p:nvPr/>
        </p:nvSpPr>
        <p:spPr>
          <a:xfrm>
            <a:off x="457200" y="3584448"/>
            <a:ext cx="2011680" cy="640080"/>
          </a:xfrm>
          <a:prstGeom prst="rect">
            <a:avLst/>
          </a:prstGeom>
          <a:noFill/>
          <a:ln/>
        </p:spPr>
        <p:txBody>
          <a:bodyPr wrap="square" lIns="0" tIns="0" rIns="0" bIns="0" rtlCol="0" anchor="t"/>
          <a:lstStyle/>
          <a:p>
            <a:pPr indent="0" marL="0">
              <a:buNone/>
            </a:pPr>
            <a:r>
              <a:rPr lang="en-US" sz="1200" dirty="0">
                <a:solidFill>
                  <a:schemeClr val="accent4"/>
                </a:solidFill>
              </a:rPr>
              <a:t>performance site records</a:t>
            </a:r>
            <a:endParaRPr lang="en-US" sz="1200" dirty="0"/>
          </a:p>
        </p:txBody>
      </p:sp>
      <p:sp>
        <p:nvSpPr>
          <p:cNvPr id="14" name="Text 12"/>
          <p:cNvSpPr txBox="1"/>
          <p:nvPr/>
        </p:nvSpPr>
        <p:spPr>
          <a:xfrm>
            <a:off x="2560320" y="2834640"/>
            <a:ext cx="2011680" cy="731520"/>
          </a:xfrm>
          <a:prstGeom prst="rect">
            <a:avLst/>
          </a:prstGeom>
          <a:noFill/>
          <a:ln/>
        </p:spPr>
        <p:txBody>
          <a:bodyPr wrap="square" lIns="0" tIns="0" rIns="0" bIns="0" rtlCol="0" anchor="b"/>
          <a:lstStyle/>
          <a:p>
            <a:pPr algn="l" indent="0" marL="0">
              <a:buNone/>
            </a:pPr>
            <a:r>
              <a:rPr lang="en-US" sz="4000" b="1" dirty="0">
                <a:solidFill>
                  <a:schemeClr val="accent1"/>
                </a:solidFill>
              </a:rPr>
              <a:t>43</a:t>
            </a:r>
            <a:endParaRPr lang="en-US" sz="4000" dirty="0"/>
          </a:p>
        </p:txBody>
      </p:sp>
      <p:sp>
        <p:nvSpPr>
          <p:cNvPr id="15" name="Text 13"/>
          <p:cNvSpPr txBox="1"/>
          <p:nvPr/>
        </p:nvSpPr>
        <p:spPr>
          <a:xfrm>
            <a:off x="2560320" y="3584448"/>
            <a:ext cx="2011680" cy="640080"/>
          </a:xfrm>
          <a:prstGeom prst="rect">
            <a:avLst/>
          </a:prstGeom>
          <a:noFill/>
          <a:ln/>
        </p:spPr>
        <p:txBody>
          <a:bodyPr wrap="square" lIns="0" tIns="0" rIns="0" bIns="0" rtlCol="0" anchor="t"/>
          <a:lstStyle/>
          <a:p>
            <a:pPr indent="0" marL="0">
              <a:buNone/>
            </a:pPr>
            <a:r>
              <a:rPr lang="en-US" sz="1200" dirty="0">
                <a:solidFill>
                  <a:schemeClr val="accent4"/>
                </a:solidFill>
              </a:rPr>
              <a:t>cost records + 37 price benchmarks</a:t>
            </a:r>
            <a:endParaRPr lang="en-US" sz="1200" dirty="0"/>
          </a:p>
        </p:txBody>
      </p:sp>
      <p:sp>
        <p:nvSpPr>
          <p:cNvPr id="16" name="Text 14"/>
          <p:cNvSpPr txBox="1"/>
          <p:nvPr/>
        </p:nvSpPr>
        <p:spPr>
          <a:xfrm>
            <a:off x="4663440" y="2834640"/>
            <a:ext cx="2011680" cy="731520"/>
          </a:xfrm>
          <a:prstGeom prst="rect">
            <a:avLst/>
          </a:prstGeom>
          <a:noFill/>
          <a:ln/>
        </p:spPr>
        <p:txBody>
          <a:bodyPr wrap="square" lIns="0" tIns="0" rIns="0" bIns="0" rtlCol="0" anchor="b"/>
          <a:lstStyle/>
          <a:p>
            <a:pPr algn="l" indent="0" marL="0">
              <a:buNone/>
            </a:pPr>
            <a:r>
              <a:rPr lang="en-US" sz="4000" b="1" dirty="0">
                <a:solidFill>
                  <a:schemeClr val="accent1"/>
                </a:solidFill>
              </a:rPr>
              <a:t>46</a:t>
            </a:r>
            <a:endParaRPr lang="en-US" sz="4000" dirty="0"/>
          </a:p>
        </p:txBody>
      </p:sp>
      <p:sp>
        <p:nvSpPr>
          <p:cNvPr id="17" name="Text 15"/>
          <p:cNvSpPr txBox="1"/>
          <p:nvPr/>
        </p:nvSpPr>
        <p:spPr>
          <a:xfrm>
            <a:off x="4663440" y="3584448"/>
            <a:ext cx="2011680" cy="640080"/>
          </a:xfrm>
          <a:prstGeom prst="rect">
            <a:avLst/>
          </a:prstGeom>
          <a:noFill/>
          <a:ln/>
        </p:spPr>
        <p:txBody>
          <a:bodyPr wrap="square" lIns="0" tIns="0" rIns="0" bIns="0" rtlCol="0" anchor="t"/>
          <a:lstStyle/>
          <a:p>
            <a:pPr indent="0" marL="0">
              <a:buNone/>
            </a:pPr>
            <a:r>
              <a:rPr lang="en-US" sz="1200" dirty="0">
                <a:solidFill>
                  <a:schemeClr val="accent4"/>
                </a:solidFill>
              </a:rPr>
              <a:t>surveys, audits, inspections; 40 sources state failure reasons</a:t>
            </a:r>
            <a:endParaRPr lang="en-US" sz="1200" dirty="0"/>
          </a:p>
        </p:txBody>
      </p:sp>
      <p:sp>
        <p:nvSpPr>
          <p:cNvPr id="18" name="Text 16"/>
          <p:cNvSpPr txBox="1"/>
          <p:nvPr/>
        </p:nvSpPr>
        <p:spPr>
          <a:xfrm>
            <a:off x="6766560" y="2834640"/>
            <a:ext cx="2011680" cy="731520"/>
          </a:xfrm>
          <a:prstGeom prst="rect">
            <a:avLst/>
          </a:prstGeom>
          <a:noFill/>
          <a:ln/>
        </p:spPr>
        <p:txBody>
          <a:bodyPr wrap="square" lIns="0" tIns="0" rIns="0" bIns="0" rtlCol="0" anchor="b"/>
          <a:lstStyle/>
          <a:p>
            <a:pPr algn="l" indent="0" marL="0">
              <a:buNone/>
            </a:pPr>
            <a:r>
              <a:rPr lang="en-US" sz="4000" b="1" dirty="0">
                <a:solidFill>
                  <a:schemeClr val="accent1"/>
                </a:solidFill>
              </a:rPr>
              <a:t>24</a:t>
            </a:r>
            <a:endParaRPr lang="en-US" sz="4000" dirty="0"/>
          </a:p>
        </p:txBody>
      </p:sp>
      <p:sp>
        <p:nvSpPr>
          <p:cNvPr id="19" name="Text 17"/>
          <p:cNvSpPr txBox="1"/>
          <p:nvPr/>
        </p:nvSpPr>
        <p:spPr>
          <a:xfrm>
            <a:off x="6766560" y="3584448"/>
            <a:ext cx="2011680" cy="640080"/>
          </a:xfrm>
          <a:prstGeom prst="rect">
            <a:avLst/>
          </a:prstGeom>
          <a:noFill/>
          <a:ln/>
        </p:spPr>
        <p:txBody>
          <a:bodyPr wrap="square" lIns="0" tIns="0" rIns="0" bIns="0" rtlCol="0" anchor="t"/>
          <a:lstStyle/>
          <a:p>
            <a:pPr indent="0" marL="0">
              <a:buNone/>
            </a:pPr>
            <a:r>
              <a:rPr lang="en-US" sz="1200" dirty="0">
                <a:solidFill>
                  <a:schemeClr val="accent4"/>
                </a:solidFill>
              </a:rPr>
              <a:t>mandate instruments</a:t>
            </a:r>
            <a:endParaRPr lang="en-US" sz="1200" dirty="0"/>
          </a:p>
        </p:txBody>
      </p:sp>
      <p:sp>
        <p:nvSpPr>
          <p:cNvPr id="20" name="Text 18"/>
          <p:cNvSpPr txBox="1"/>
          <p:nvPr/>
        </p:nvSpPr>
        <p:spPr>
          <a:xfrm>
            <a:off x="457200" y="4160520"/>
            <a:ext cx="8229600" cy="548640"/>
          </a:xfrm>
          <a:prstGeom prst="rect">
            <a:avLst/>
          </a:prstGeom>
          <a:noFill/>
          <a:ln/>
        </p:spPr>
        <p:txBody>
          <a:bodyPr wrap="square" lIns="0" tIns="0" rIns="0" bIns="0" rtlCol="0" anchor="t"/>
          <a:lstStyle/>
          <a:p>
            <a:pPr indent="0" marL="0">
              <a:spcAft>
                <a:spcPts val="600"/>
              </a:spcAft>
              <a:buNone/>
            </a:pPr>
            <a:r>
              <a:rPr lang="en-US" sz="1100" dirty="0">
                <a:solidFill>
                  <a:schemeClr val="accent4"/>
                </a:solidFill>
              </a:rPr>
              <a:t>Sources: CGWB compilations and manual, CSE case studies, Lok Sabha replies, Delhi Jal Board and NGT reports, Arghyam, journal papers, campus and company reports, IMD normals, RBI CPI. Every number logged with its URL and the sentence or values taken from the page.</a:t>
            </a:r>
            <a:endParaRPr lang="en-US" sz="11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2600" b="1" dirty="0">
                <a:solidFill>
                  <a:schemeClr val="tx2"/>
                </a:solidFill>
              </a:rPr>
              <a:t>One metric, three evidence tiers</a:t>
            </a:r>
            <a:endParaRPr lang="en-US" sz="2600" dirty="0"/>
          </a:p>
        </p:txBody>
      </p:sp>
      <p:sp>
        <p:nvSpPr>
          <p:cNvPr id="3" name="Shape 1"/>
          <p:cNvSpPr/>
          <p:nvPr/>
        </p:nvSpPr>
        <p:spPr>
          <a:xfrm>
            <a:off x="457200" y="1051560"/>
            <a:ext cx="8229600" cy="685800"/>
          </a:xfrm>
          <a:prstGeom prst="roundRect">
            <a:avLst>
              <a:gd name="adj" fmla="val 10667"/>
            </a:avLst>
          </a:prstGeom>
          <a:solidFill>
            <a:srgbClr val="EEF3FB"/>
          </a:solidFill>
          <a:ln w="12700">
            <a:solidFill>
              <a:srgbClr val="EEF3FB"/>
            </a:solidFill>
            <a:prstDash val="solid"/>
          </a:ln>
        </p:spPr>
      </p:sp>
      <p:sp>
        <p:nvSpPr>
          <p:cNvPr id="4" name="Text 2"/>
          <p:cNvSpPr txBox="1"/>
          <p:nvPr/>
        </p:nvSpPr>
        <p:spPr>
          <a:xfrm>
            <a:off x="640080" y="1097280"/>
            <a:ext cx="7863840" cy="594360"/>
          </a:xfrm>
          <a:prstGeom prst="rect">
            <a:avLst/>
          </a:prstGeom>
          <a:noFill/>
          <a:ln/>
        </p:spPr>
        <p:txBody>
          <a:bodyPr wrap="square" lIns="0" tIns="0" rIns="0" bIns="0" rtlCol="0" anchor="ctr"/>
          <a:lstStyle/>
          <a:p>
            <a:pPr indent="0" marL="0">
              <a:buNone/>
            </a:pPr>
            <a:r>
              <a:rPr lang="en-US" sz="1250" b="1" dirty="0">
                <a:solidFill>
                  <a:schemeClr val="tx1"/>
                </a:solidFill>
              </a:rPr>
              <a:t>Potential P = Area (m2) x Rainfall (mm) x C / 1000   [kL/yr]      </a:t>
            </a:r>
            <a:pPr indent="0" marL="0">
              <a:buNone/>
            </a:pPr>
            <a:r>
              <a:rPr lang="en-US" sz="1250" dirty="0">
                <a:solidFill>
                  <a:schemeClr val="tx1"/>
                </a:solidFill>
              </a:rPr>
              <a:t>Performance ratio = reported volume / P.   C = 0.80 (CGWB manual, Table 7.2: concrete 0.7 to GI sheet 0.9); sensitivity 0.70 and 0.90.</a:t>
            </a:r>
            <a:endParaRPr lang="en-US" sz="1250" dirty="0"/>
          </a:p>
        </p:txBody>
      </p:sp>
      <p:sp>
        <p:nvSpPr>
          <p:cNvPr id="5" name="Shape 3"/>
          <p:cNvSpPr/>
          <p:nvPr/>
        </p:nvSpPr>
        <p:spPr>
          <a:xfrm>
            <a:off x="457200" y="1920240"/>
            <a:ext cx="2651760" cy="1600200"/>
          </a:xfrm>
          <a:prstGeom prst="roundRect">
            <a:avLst>
              <a:gd name="adj" fmla="val 4571"/>
            </a:avLst>
          </a:prstGeom>
          <a:solidFill>
            <a:srgbClr val="E3EDFB"/>
          </a:solidFill>
          <a:ln w="12700">
            <a:solidFill>
              <a:srgbClr val="E3EDFB"/>
            </a:solidFill>
            <a:prstDash val="solid"/>
          </a:ln>
        </p:spPr>
      </p:sp>
      <p:sp>
        <p:nvSpPr>
          <p:cNvPr id="6" name="Text 4"/>
          <p:cNvSpPr txBox="1"/>
          <p:nvPr/>
        </p:nvSpPr>
        <p:spPr>
          <a:xfrm>
            <a:off x="594360" y="2011680"/>
            <a:ext cx="2377440" cy="365760"/>
          </a:xfrm>
          <a:prstGeom prst="rect">
            <a:avLst/>
          </a:prstGeom>
          <a:noFill/>
          <a:ln/>
        </p:spPr>
        <p:txBody>
          <a:bodyPr wrap="square" lIns="0" tIns="0" rIns="0" bIns="0" rtlCol="0" anchor="ctr"/>
          <a:lstStyle/>
          <a:p>
            <a:pPr indent="0" marL="0">
              <a:buNone/>
            </a:pPr>
            <a:r>
              <a:rPr lang="en-US" sz="1400" b="1" dirty="0">
                <a:solidFill>
                  <a:schemeClr val="tx2"/>
                </a:solidFill>
              </a:rPr>
              <a:t>Observed</a:t>
            </a:r>
            <a:endParaRPr lang="en-US" sz="1400" dirty="0"/>
          </a:p>
        </p:txBody>
      </p:sp>
      <p:sp>
        <p:nvSpPr>
          <p:cNvPr id="7" name="Text 5"/>
          <p:cNvSpPr txBox="1"/>
          <p:nvPr/>
        </p:nvSpPr>
        <p:spPr>
          <a:xfrm>
            <a:off x="594360" y="2377440"/>
            <a:ext cx="2377440" cy="1051560"/>
          </a:xfrm>
          <a:prstGeom prst="rect">
            <a:avLst/>
          </a:prstGeom>
          <a:noFill/>
          <a:ln/>
        </p:spPr>
        <p:txBody>
          <a:bodyPr wrap="square" lIns="0" tIns="0" rIns="0" bIns="0" rtlCol="0" anchor="t"/>
          <a:lstStyle/>
          <a:p>
            <a:pPr indent="0" marL="0">
              <a:spcAft>
                <a:spcPts val="400"/>
              </a:spcAft>
              <a:buNone/>
            </a:pPr>
            <a:r>
              <a:rPr lang="en-US" sz="1150" dirty="0">
                <a:solidFill>
                  <a:schemeClr val="tx1"/>
                </a:solidFill>
              </a:rPr>
              <a:t>Source names a flow meter, a measuring device at the recharge well or a tank-filling record. 7 observations, 5 sites.</a:t>
            </a:r>
            <a:endParaRPr lang="en-US" sz="1150" dirty="0"/>
          </a:p>
        </p:txBody>
      </p:sp>
      <p:sp>
        <p:nvSpPr>
          <p:cNvPr id="8" name="Shape 6"/>
          <p:cNvSpPr/>
          <p:nvPr/>
        </p:nvSpPr>
        <p:spPr>
          <a:xfrm>
            <a:off x="3246120" y="1920240"/>
            <a:ext cx="2651760" cy="1600200"/>
          </a:xfrm>
          <a:prstGeom prst="roundRect">
            <a:avLst>
              <a:gd name="adj" fmla="val 4571"/>
            </a:avLst>
          </a:prstGeom>
          <a:solidFill>
            <a:srgbClr val="FBE8E0"/>
          </a:solidFill>
          <a:ln w="12700">
            <a:solidFill>
              <a:srgbClr val="FBE8E0"/>
            </a:solidFill>
            <a:prstDash val="solid"/>
          </a:ln>
        </p:spPr>
      </p:sp>
      <p:sp>
        <p:nvSpPr>
          <p:cNvPr id="9" name="Text 7"/>
          <p:cNvSpPr txBox="1"/>
          <p:nvPr/>
        </p:nvSpPr>
        <p:spPr>
          <a:xfrm>
            <a:off x="3383280" y="2011680"/>
            <a:ext cx="2377440" cy="365760"/>
          </a:xfrm>
          <a:prstGeom prst="rect">
            <a:avLst/>
          </a:prstGeom>
          <a:noFill/>
          <a:ln/>
        </p:spPr>
        <p:txBody>
          <a:bodyPr wrap="square" lIns="0" tIns="0" rIns="0" bIns="0" rtlCol="0" anchor="ctr"/>
          <a:lstStyle/>
          <a:p>
            <a:pPr indent="0" marL="0">
              <a:buNone/>
            </a:pPr>
            <a:r>
              <a:rPr lang="en-US" sz="1400" b="1" dirty="0">
                <a:solidFill>
                  <a:schemeClr val="tx2"/>
                </a:solidFill>
              </a:rPr>
              <a:t>Agency-reported</a:t>
            </a:r>
            <a:endParaRPr lang="en-US" sz="1400" dirty="0"/>
          </a:p>
        </p:txBody>
      </p:sp>
      <p:sp>
        <p:nvSpPr>
          <p:cNvPr id="10" name="Text 8"/>
          <p:cNvSpPr txBox="1"/>
          <p:nvPr/>
        </p:nvSpPr>
        <p:spPr>
          <a:xfrm>
            <a:off x="3383280" y="2377440"/>
            <a:ext cx="2377440" cy="1051560"/>
          </a:xfrm>
          <a:prstGeom prst="rect">
            <a:avLst/>
          </a:prstGeom>
          <a:noFill/>
          <a:ln/>
        </p:spPr>
        <p:txBody>
          <a:bodyPr wrap="square" lIns="0" tIns="0" rIns="0" bIns="0" rtlCol="0" anchor="t"/>
          <a:lstStyle/>
          <a:p>
            <a:pPr indent="0" marL="0">
              <a:spcAft>
                <a:spcPts val="400"/>
              </a:spcAft>
              <a:buNone/>
            </a:pPr>
            <a:r>
              <a:rPr lang="en-US" sz="1150" dirty="0">
                <a:solidFill>
                  <a:schemeClr val="tx1"/>
                </a:solidFill>
              </a:rPr>
              <a:t>Annual volume stated by CGWB or another agency, no instrument named, or given as a share of estimated runoff. 9 observations, 7 sites.</a:t>
            </a:r>
            <a:endParaRPr lang="en-US" sz="1150" dirty="0"/>
          </a:p>
        </p:txBody>
      </p:sp>
      <p:sp>
        <p:nvSpPr>
          <p:cNvPr id="11" name="Shape 9"/>
          <p:cNvSpPr/>
          <p:nvPr/>
        </p:nvSpPr>
        <p:spPr>
          <a:xfrm>
            <a:off x="6035040" y="1920240"/>
            <a:ext cx="2651760" cy="1600200"/>
          </a:xfrm>
          <a:prstGeom prst="roundRect">
            <a:avLst>
              <a:gd name="adj" fmla="val 4571"/>
            </a:avLst>
          </a:prstGeom>
          <a:solidFill>
            <a:srgbClr val="ECEAFA"/>
          </a:solidFill>
          <a:ln w="12700">
            <a:solidFill>
              <a:srgbClr val="ECEAFA"/>
            </a:solidFill>
            <a:prstDash val="solid"/>
          </a:ln>
        </p:spPr>
      </p:sp>
      <p:sp>
        <p:nvSpPr>
          <p:cNvPr id="12" name="Text 10"/>
          <p:cNvSpPr txBox="1"/>
          <p:nvPr/>
        </p:nvSpPr>
        <p:spPr>
          <a:xfrm>
            <a:off x="6172200" y="2011680"/>
            <a:ext cx="2377440" cy="365760"/>
          </a:xfrm>
          <a:prstGeom prst="rect">
            <a:avLst/>
          </a:prstGeom>
          <a:noFill/>
          <a:ln/>
        </p:spPr>
        <p:txBody>
          <a:bodyPr wrap="square" lIns="0" tIns="0" rIns="0" bIns="0" rtlCol="0" anchor="ctr"/>
          <a:lstStyle/>
          <a:p>
            <a:pPr indent="0" marL="0">
              <a:buNone/>
            </a:pPr>
            <a:r>
              <a:rPr lang="en-US" sz="1400" b="1" dirty="0">
                <a:solidFill>
                  <a:schemeClr val="tx2"/>
                </a:solidFill>
              </a:rPr>
              <a:t>Design calculation</a:t>
            </a:r>
            <a:endParaRPr lang="en-US" sz="1400" dirty="0"/>
          </a:p>
        </p:txBody>
      </p:sp>
      <p:sp>
        <p:nvSpPr>
          <p:cNvPr id="13" name="Text 11"/>
          <p:cNvSpPr txBox="1"/>
          <p:nvPr/>
        </p:nvSpPr>
        <p:spPr>
          <a:xfrm>
            <a:off x="6172200" y="2377440"/>
            <a:ext cx="2377440" cy="1051560"/>
          </a:xfrm>
          <a:prstGeom prst="rect">
            <a:avLst/>
          </a:prstGeom>
          <a:noFill/>
          <a:ln/>
        </p:spPr>
        <p:txBody>
          <a:bodyPr wrap="square" lIns="0" tIns="0" rIns="0" bIns="0" rtlCol="0" anchor="t"/>
          <a:lstStyle/>
          <a:p>
            <a:pPr indent="0" marL="0">
              <a:spcAft>
                <a:spcPts val="400"/>
              </a:spcAft>
              <a:buNone/>
            </a:pPr>
            <a:r>
              <a:rPr lang="en-US" sz="1150" dirty="0">
                <a:solidFill>
                  <a:schemeClr val="tx1"/>
                </a:solidFill>
              </a:rPr>
              <a:t>CSE model projects and one CGWB design note where the 'volume harvested' is a stated share of area x rainfall. 19 sites.</a:t>
            </a:r>
            <a:endParaRPr lang="en-US" sz="1150" dirty="0"/>
          </a:p>
        </p:txBody>
      </p:sp>
      <p:sp>
        <p:nvSpPr>
          <p:cNvPr id="14" name="Text 12"/>
          <p:cNvSpPr txBox="1"/>
          <p:nvPr/>
        </p:nvSpPr>
        <p:spPr>
          <a:xfrm>
            <a:off x="457200" y="3657600"/>
            <a:ext cx="8229600" cy="109728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chemeClr val="tx1"/>
                </a:solidFill>
              </a:rPr>
              <a:t>Screening: 89 site records found (17 not accessible, 7 added from the cost search and the CGWB compilation), 79 screened, 47 excluded (20 potential only, 9 no area or volume, 3 modelled, 10 no roof area, 5 mixed or inconsistent), 35 observations at 31 sites included</a:t>
            </a:r>
            <a:endParaRPr lang="en-US" sz="1100" dirty="0"/>
          </a:p>
          <a:p>
            <a:pPr marL="342900" indent="-342900">
              <a:spcAft>
                <a:spcPts val="600"/>
              </a:spcAft>
              <a:buSzPct val="100000"/>
              <a:buChar char="•"/>
            </a:pPr>
            <a:r>
              <a:rPr lang="en-US" sz="1100" dirty="0">
                <a:solidFill>
                  <a:schemeClr val="tx1"/>
                </a:solidFill>
              </a:rPr>
              <a:t>Costs: deflated to 2024 rupees (CPI-IW); 15-year life and O&amp;M 2% of capital are CGWB norms, 8% discount is our assumption (CGWB example: 15%); divided by design yield, then rescaled to observed yield</a:t>
            </a:r>
            <a:endParaRPr lang="en-US" sz="1100" dirty="0"/>
          </a:p>
          <a:p>
            <a:pPr marL="342900" indent="-342900">
              <a:spcAft>
                <a:spcPts val="600"/>
              </a:spcAft>
              <a:buSzPct val="100000"/>
              <a:buChar char="•"/>
            </a:pPr>
            <a:r>
              <a:rPr lang="en-US" sz="1100" dirty="0">
                <a:solidFill>
                  <a:schemeClr val="tx1"/>
                </a:solidFill>
              </a:rPr>
              <a:t>Functionality: 13 functional-share estimates from 12 surveys; 90 failure-mode mentions from 40 sources coded into 11 categories</a:t>
            </a:r>
            <a:endParaRPr lang="en-US" sz="11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2600" b="1" dirty="0">
                <a:solidFill>
                  <a:schemeClr val="tx2"/>
                </a:solidFill>
              </a:rPr>
              <a:t>Result 1: in the seven observed cases, yield is about a quarter of potential</a:t>
            </a:r>
            <a:endParaRPr lang="en-US" sz="2600" dirty="0"/>
          </a:p>
        </p:txBody>
      </p:sp>
      <p:pic>
        <p:nvPicPr>
          <p:cNvPr id="3" name="Image 0" descr="Reported yield against theoretical potential, by evidence tier">    </p:cNvPr>
          <p:cNvPicPr>
            <a:picLocks noChangeAspect="1"/>
          </p:cNvPicPr>
          <p:nvPr/>
        </p:nvPicPr>
        <p:blipFill>
          <a:blip r:embed="rId1"/>
          <a:stretch>
            <a:fillRect/>
          </a:stretch>
        </p:blipFill>
        <p:spPr>
          <a:xfrm>
            <a:off x="457200" y="1005840"/>
            <a:ext cx="8229600" cy="2282038"/>
          </a:xfrm>
          <a:prstGeom prst="rect">
            <a:avLst/>
          </a:prstGeom>
        </p:spPr>
      </p:pic>
      <p:sp>
        <p:nvSpPr>
          <p:cNvPr id="4" name="Text 1"/>
          <p:cNvSpPr txBox="1"/>
          <p:nvPr/>
        </p:nvSpPr>
        <p:spPr>
          <a:xfrm>
            <a:off x="457200" y="3794760"/>
            <a:ext cx="8229600" cy="822960"/>
          </a:xfrm>
          <a:prstGeom prst="rect">
            <a:avLst/>
          </a:prstGeom>
          <a:noFill/>
          <a:ln/>
        </p:spPr>
        <p:txBody>
          <a:bodyPr wrap="square" lIns="0" tIns="0" rIns="0" bIns="0" rtlCol="0" anchor="t"/>
          <a:lstStyle/>
          <a:p>
            <a:pPr indent="0" marL="0">
              <a:spcAft>
                <a:spcPts val="600"/>
              </a:spcAft>
              <a:buNone/>
            </a:pPr>
            <a:r>
              <a:rPr lang="en-US" sz="1150" dirty="0">
                <a:solidFill>
                  <a:schemeClr val="accent4"/>
                </a:solidFill>
              </a:rPr>
              <a:t>Left: reported volume against potential (log scales), 1:1 and 1:4 lines. Right: performance ratio by evidence tier, bars are medians. Observed volumes sit well below agency-reported ones, which cluster at 100% of potential.</a:t>
            </a:r>
            <a:endParaRPr lang="en-US" sz="115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2600" b="1" dirty="0">
                <a:solidFill>
                  <a:schemeClr val="tx2"/>
                </a:solidFill>
              </a:rPr>
              <a:t>Who measured it decides the answer</a:t>
            </a:r>
            <a:endParaRPr lang="en-US" sz="2600" dirty="0"/>
          </a:p>
        </p:txBody>
      </p:sp>
      <p:sp>
        <p:nvSpPr>
          <p:cNvPr id="3" name="Text 1"/>
          <p:cNvSpPr txBox="1"/>
          <p:nvPr/>
        </p:nvSpPr>
        <p:spPr>
          <a:xfrm>
            <a:off x="457200" y="1051560"/>
            <a:ext cx="2651760" cy="731520"/>
          </a:xfrm>
          <a:prstGeom prst="rect">
            <a:avLst/>
          </a:prstGeom>
          <a:noFill/>
          <a:ln/>
        </p:spPr>
        <p:txBody>
          <a:bodyPr wrap="square" lIns="0" tIns="0" rIns="0" bIns="0" rtlCol="0" anchor="b"/>
          <a:lstStyle/>
          <a:p>
            <a:pPr algn="l" indent="0" marL="0">
              <a:buNone/>
            </a:pPr>
            <a:r>
              <a:rPr lang="en-US" sz="4000" b="1" dirty="0">
                <a:solidFill>
                  <a:schemeClr val="accent1"/>
                </a:solidFill>
              </a:rPr>
              <a:t>28%</a:t>
            </a:r>
            <a:endParaRPr lang="en-US" sz="4000" dirty="0"/>
          </a:p>
        </p:txBody>
      </p:sp>
      <p:sp>
        <p:nvSpPr>
          <p:cNvPr id="4" name="Text 2"/>
          <p:cNvSpPr txBox="1"/>
          <p:nvPr/>
        </p:nvSpPr>
        <p:spPr>
          <a:xfrm>
            <a:off x="457200" y="1801368"/>
            <a:ext cx="2651760" cy="640080"/>
          </a:xfrm>
          <a:prstGeom prst="rect">
            <a:avLst/>
          </a:prstGeom>
          <a:noFill/>
          <a:ln/>
        </p:spPr>
        <p:txBody>
          <a:bodyPr wrap="square" lIns="0" tIns="0" rIns="0" bIns="0" rtlCol="0" anchor="t"/>
          <a:lstStyle/>
          <a:p>
            <a:pPr indent="0" marL="0">
              <a:buNone/>
            </a:pPr>
            <a:r>
              <a:rPr lang="en-US" sz="1200" dirty="0">
                <a:solidFill>
                  <a:schemeClr val="accent4"/>
                </a:solidFill>
              </a:rPr>
              <a:t>Observed median, n = 7 at 5 sites. 95% CI 19% to 76%; range 11% to 112%</a:t>
            </a:r>
            <a:endParaRPr lang="en-US" sz="1200" dirty="0"/>
          </a:p>
        </p:txBody>
      </p:sp>
      <p:sp>
        <p:nvSpPr>
          <p:cNvPr id="5" name="Text 3"/>
          <p:cNvSpPr txBox="1"/>
          <p:nvPr/>
        </p:nvSpPr>
        <p:spPr>
          <a:xfrm>
            <a:off x="3246120" y="1051560"/>
            <a:ext cx="2651760" cy="731520"/>
          </a:xfrm>
          <a:prstGeom prst="rect">
            <a:avLst/>
          </a:prstGeom>
          <a:noFill/>
          <a:ln/>
        </p:spPr>
        <p:txBody>
          <a:bodyPr wrap="square" lIns="0" tIns="0" rIns="0" bIns="0" rtlCol="0" anchor="b"/>
          <a:lstStyle/>
          <a:p>
            <a:pPr algn="l" indent="0" marL="0">
              <a:buNone/>
            </a:pPr>
            <a:r>
              <a:rPr lang="en-US" sz="4000" b="1" dirty="0">
                <a:solidFill>
                  <a:schemeClr val="accent2"/>
                </a:solidFill>
              </a:rPr>
              <a:t>99%</a:t>
            </a:r>
            <a:endParaRPr lang="en-US" sz="4000" dirty="0"/>
          </a:p>
        </p:txBody>
      </p:sp>
      <p:sp>
        <p:nvSpPr>
          <p:cNvPr id="6" name="Text 4"/>
          <p:cNvSpPr txBox="1"/>
          <p:nvPr/>
        </p:nvSpPr>
        <p:spPr>
          <a:xfrm>
            <a:off x="3246120" y="1801368"/>
            <a:ext cx="2651760" cy="640080"/>
          </a:xfrm>
          <a:prstGeom prst="rect">
            <a:avLst/>
          </a:prstGeom>
          <a:noFill/>
          <a:ln/>
        </p:spPr>
        <p:txBody>
          <a:bodyPr wrap="square" lIns="0" tIns="0" rIns="0" bIns="0" rtlCol="0" anchor="t"/>
          <a:lstStyle/>
          <a:p>
            <a:pPr indent="0" marL="0">
              <a:buNone/>
            </a:pPr>
            <a:r>
              <a:rPr lang="en-US" sz="1200" dirty="0">
                <a:solidFill>
                  <a:schemeClr val="accent4"/>
                </a:solidFill>
              </a:rPr>
              <a:t>Agency-reported median, n = 9 at 7 sites. 5 of 9 at or above 99% of potential, the most a roof can give at C = 0.80</a:t>
            </a:r>
            <a:endParaRPr lang="en-US" sz="1200" dirty="0"/>
          </a:p>
        </p:txBody>
      </p:sp>
      <p:sp>
        <p:nvSpPr>
          <p:cNvPr id="7" name="Text 5"/>
          <p:cNvSpPr txBox="1"/>
          <p:nvPr/>
        </p:nvSpPr>
        <p:spPr>
          <a:xfrm>
            <a:off x="6035040" y="1051560"/>
            <a:ext cx="2651760" cy="731520"/>
          </a:xfrm>
          <a:prstGeom prst="rect">
            <a:avLst/>
          </a:prstGeom>
          <a:noFill/>
          <a:ln/>
        </p:spPr>
        <p:txBody>
          <a:bodyPr wrap="square" lIns="0" tIns="0" rIns="0" bIns="0" rtlCol="0" anchor="b"/>
          <a:lstStyle/>
          <a:p>
            <a:pPr algn="l" indent="0" marL="0">
              <a:buNone/>
            </a:pPr>
            <a:r>
              <a:rPr lang="en-US" sz="4000" b="1" dirty="0">
                <a:solidFill>
                  <a:schemeClr val="accent3"/>
                </a:solidFill>
              </a:rPr>
              <a:t>56%</a:t>
            </a:r>
            <a:endParaRPr lang="en-US" sz="4000" dirty="0"/>
          </a:p>
        </p:txBody>
      </p:sp>
      <p:sp>
        <p:nvSpPr>
          <p:cNvPr id="8" name="Text 6"/>
          <p:cNvSpPr txBox="1"/>
          <p:nvPr/>
        </p:nvSpPr>
        <p:spPr>
          <a:xfrm>
            <a:off x="6035040" y="1801368"/>
            <a:ext cx="2651760" cy="640080"/>
          </a:xfrm>
          <a:prstGeom prst="rect">
            <a:avLst/>
          </a:prstGeom>
          <a:noFill/>
          <a:ln/>
        </p:spPr>
        <p:txBody>
          <a:bodyPr wrap="square" lIns="0" tIns="0" rIns="0" bIns="0" rtlCol="0" anchor="t"/>
          <a:lstStyle/>
          <a:p>
            <a:pPr indent="0" marL="0">
              <a:buNone/>
            </a:pPr>
            <a:r>
              <a:rPr lang="en-US" sz="1200" dirty="0">
                <a:solidFill>
                  <a:schemeClr val="accent4"/>
                </a:solidFill>
              </a:rPr>
              <a:t>Design-calculated median, n = 19. These are the shares CSE assumed, not measurements</a:t>
            </a:r>
            <a:endParaRPr lang="en-US" sz="1200" dirty="0"/>
          </a:p>
        </p:txBody>
      </p:sp>
      <p:sp>
        <p:nvSpPr>
          <p:cNvPr id="9" name="Shape 7"/>
          <p:cNvSpPr/>
          <p:nvPr/>
        </p:nvSpPr>
        <p:spPr>
          <a:xfrm>
            <a:off x="457200" y="2743200"/>
            <a:ext cx="4023360" cy="1828800"/>
          </a:xfrm>
          <a:prstGeom prst="roundRect">
            <a:avLst>
              <a:gd name="adj" fmla="val 4000"/>
            </a:avLst>
          </a:prstGeom>
          <a:solidFill>
            <a:srgbClr val="EEF3FB"/>
          </a:solidFill>
          <a:ln w="12700">
            <a:solidFill>
              <a:srgbClr val="EEF3FB"/>
            </a:solidFill>
            <a:prstDash val="solid"/>
          </a:ln>
        </p:spPr>
      </p:sp>
      <p:sp>
        <p:nvSpPr>
          <p:cNvPr id="10" name="Text 8"/>
          <p:cNvSpPr txBox="1"/>
          <p:nvPr/>
        </p:nvSpPr>
        <p:spPr>
          <a:xfrm>
            <a:off x="594360" y="2834640"/>
            <a:ext cx="3749040" cy="365760"/>
          </a:xfrm>
          <a:prstGeom prst="rect">
            <a:avLst/>
          </a:prstGeom>
          <a:noFill/>
          <a:ln/>
        </p:spPr>
        <p:txBody>
          <a:bodyPr wrap="square" lIns="0" tIns="0" rIns="0" bIns="0" rtlCol="0" anchor="ctr"/>
          <a:lstStyle/>
          <a:p>
            <a:pPr indent="0" marL="0">
              <a:buNone/>
            </a:pPr>
            <a:r>
              <a:rPr lang="en-US" sz="1400" b="1" dirty="0">
                <a:solidFill>
                  <a:schemeClr val="tx2"/>
                </a:solidFill>
              </a:rPr>
              <a:t>Sensitivity checks</a:t>
            </a:r>
            <a:endParaRPr lang="en-US" sz="1400" dirty="0"/>
          </a:p>
        </p:txBody>
      </p:sp>
      <p:sp>
        <p:nvSpPr>
          <p:cNvPr id="11" name="Text 9"/>
          <p:cNvSpPr txBox="1"/>
          <p:nvPr/>
        </p:nvSpPr>
        <p:spPr>
          <a:xfrm>
            <a:off x="594360" y="3200400"/>
            <a:ext cx="3749040" cy="1280160"/>
          </a:xfrm>
          <a:prstGeom prst="rect">
            <a:avLst/>
          </a:prstGeom>
          <a:noFill/>
          <a:ln/>
        </p:spPr>
        <p:txBody>
          <a:bodyPr wrap="square" lIns="0" tIns="0" rIns="0" bIns="0" rtlCol="0" anchor="t"/>
          <a:lstStyle/>
          <a:p>
            <a:pPr indent="0" marL="0">
              <a:spcAft>
                <a:spcPts val="400"/>
              </a:spcAft>
              <a:buNone/>
            </a:pPr>
            <a:r>
              <a:rPr lang="en-US" sz="1150" dirty="0">
                <a:solidFill>
                  <a:schemeClr val="tx1"/>
                </a:solidFill>
              </a:rPr>
              <a:t>Observed median between 25% and 32% for C from 0.90 to 0.70. Dropping the partial-year Goa 2008 observation: 26%. Dropping the two storage-limited houses: 28%.</a:t>
            </a:r>
            <a:endParaRPr lang="en-US" sz="1150" dirty="0"/>
          </a:p>
          <a:p>
            <a:pPr indent="0" marL="0">
              <a:spcAft>
                <a:spcPts val="400"/>
              </a:spcAft>
              <a:buNone/>
            </a:pPr>
            <a:r>
              <a:rPr lang="en-US" sz="1150" dirty="0">
                <a:solidFill>
                  <a:schemeClr val="tx1"/>
                </a:solidFill>
              </a:rPr>
              <a:t>Observed vs agency-reported: Mann-Whitney U = 10, p = 0.023.</a:t>
            </a:r>
            <a:endParaRPr lang="en-US" sz="1150" dirty="0"/>
          </a:p>
        </p:txBody>
      </p:sp>
      <p:sp>
        <p:nvSpPr>
          <p:cNvPr id="12" name="Shape 10"/>
          <p:cNvSpPr/>
          <p:nvPr/>
        </p:nvSpPr>
        <p:spPr>
          <a:xfrm>
            <a:off x="4663440" y="2743200"/>
            <a:ext cx="4023360" cy="1828800"/>
          </a:xfrm>
          <a:prstGeom prst="roundRect">
            <a:avLst>
              <a:gd name="adj" fmla="val 4000"/>
            </a:avLst>
          </a:prstGeom>
          <a:solidFill>
            <a:srgbClr val="EEF3FB"/>
          </a:solidFill>
          <a:ln w="12700">
            <a:solidFill>
              <a:srgbClr val="EEF3FB"/>
            </a:solidFill>
            <a:prstDash val="solid"/>
          </a:ln>
        </p:spPr>
      </p:sp>
      <p:sp>
        <p:nvSpPr>
          <p:cNvPr id="13" name="Text 11"/>
          <p:cNvSpPr txBox="1"/>
          <p:nvPr/>
        </p:nvSpPr>
        <p:spPr>
          <a:xfrm>
            <a:off x="4800600" y="2834640"/>
            <a:ext cx="3749040" cy="365760"/>
          </a:xfrm>
          <a:prstGeom prst="rect">
            <a:avLst/>
          </a:prstGeom>
          <a:noFill/>
          <a:ln/>
        </p:spPr>
        <p:txBody>
          <a:bodyPr wrap="square" lIns="0" tIns="0" rIns="0" bIns="0" rtlCol="0" anchor="ctr"/>
          <a:lstStyle/>
          <a:p>
            <a:pPr indent="0" marL="0">
              <a:buNone/>
            </a:pPr>
            <a:r>
              <a:rPr lang="en-US" sz="1400" b="1" dirty="0">
                <a:solidFill>
                  <a:schemeClr val="tx2"/>
                </a:solidFill>
              </a:rPr>
              <a:t>The one borderline case</a:t>
            </a:r>
            <a:endParaRPr lang="en-US" sz="1400" dirty="0"/>
          </a:p>
        </p:txBody>
      </p:sp>
      <p:sp>
        <p:nvSpPr>
          <p:cNvPr id="14" name="Text 12"/>
          <p:cNvSpPr txBox="1"/>
          <p:nvPr/>
        </p:nvSpPr>
        <p:spPr>
          <a:xfrm>
            <a:off x="4800600" y="3200400"/>
            <a:ext cx="3749040" cy="1280160"/>
          </a:xfrm>
          <a:prstGeom prst="rect">
            <a:avLst/>
          </a:prstGeom>
          <a:noFill/>
          <a:ln/>
        </p:spPr>
        <p:txBody>
          <a:bodyPr wrap="square" lIns="0" tIns="0" rIns="0" bIns="0" rtlCol="0" anchor="t"/>
          <a:lstStyle/>
          <a:p>
            <a:pPr indent="0" marL="0">
              <a:spcAft>
                <a:spcPts val="400"/>
              </a:spcAft>
              <a:buNone/>
            </a:pPr>
            <a:r>
              <a:rPr lang="en-US" sz="1150" dirty="0">
                <a:solidFill>
                  <a:schemeClr val="tx1"/>
                </a:solidFill>
              </a:rPr>
              <a:t>Warud (112%) counts as observed by the rule (flow meter named) but CGWB gives its volume as a round "90%" of rain received, so it may be an assumed share. Graded agency-reported instead: observed median 26% (n = 6), agency-reported median 102%, p = 0.001.</a:t>
            </a:r>
            <a:endParaRPr lang="en-US" sz="1150" dirty="0"/>
          </a:p>
          <a:p>
            <a:pPr indent="0" marL="0">
              <a:spcAft>
                <a:spcPts val="400"/>
              </a:spcAft>
              <a:buNone/>
            </a:pPr>
            <a:r>
              <a:rPr lang="en-US" sz="1150" dirty="0">
                <a:solidFill>
                  <a:schemeClr val="tx1"/>
                </a:solidFill>
              </a:rPr>
              <a:t>Panjab University's agency figure is stated as "93% of total generated runoff": a design share.</a:t>
            </a:r>
            <a:endParaRPr lang="en-US" sz="115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2600" b="1" dirty="0">
                <a:solidFill>
                  <a:schemeClr val="tx2"/>
                </a:solidFill>
              </a:rPr>
              <a:t>The six midway cases, verified and recomputed</a:t>
            </a:r>
            <a:endParaRPr lang="en-US" sz="2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914400"/>
        </p:xfrm>
        <a:graphic>
          <a:graphicData uri="http://schemas.openxmlformats.org/drawingml/2006/table">
            <a:tbl>
              <a:tblPr/>
              <a:tblGrid>
                <a:gridCol w="1828800"/>
                <a:gridCol w="1645920"/>
                <a:gridCol w="2468880"/>
                <a:gridCol w="2286000"/>
              </a:tblGrid>
              <a:tr h="347472">
                <a:tc>
                  <a:txBody>
                    <a:bodyPr/>
                    <a:lstStyle/>
                    <a:p>
                      <a:pPr indent="0" marL="0">
                        <a:buNone/>
                      </a:pPr>
                      <a:r>
                        <a:rPr lang="en-US" sz="950" b="1" dirty="0">
                          <a:solidFill>
                            <a:srgbClr val="FFFFFF"/>
                          </a:solidFill>
                        </a:rPr>
                        <a:t>Case</a:t>
                      </a:r>
                      <a:endParaRPr lang="en-US" sz="950" dirty="0"/>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4E79"/>
                    </a:solidFill>
                  </a:tcPr>
                </a:tc>
                <a:tc>
                  <a:txBody>
                    <a:bodyPr/>
                    <a:lstStyle/>
                    <a:p>
                      <a:pPr indent="0" marL="0">
                        <a:buNone/>
                      </a:pPr>
                      <a:r>
                        <a:rPr lang="en-US" sz="950" b="1" dirty="0">
                          <a:solidFill>
                            <a:srgbClr val="FFFFFF"/>
                          </a:solidFill>
                        </a:rPr>
                        <a:t>Midway check-in</a:t>
                      </a:r>
                      <a:endParaRPr lang="en-US" sz="950" dirty="0"/>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4E79"/>
                    </a:solidFill>
                  </a:tcPr>
                </a:tc>
                <a:tc>
                  <a:txBody>
                    <a:bodyPr/>
                    <a:lstStyle/>
                    <a:p>
                      <a:pPr indent="0" marL="0">
                        <a:buNone/>
                      </a:pPr>
                      <a:r>
                        <a:rPr lang="en-US" sz="950" b="1" dirty="0">
                          <a:solidFill>
                            <a:srgbClr val="FFFFFF"/>
                          </a:solidFill>
                        </a:rPr>
                        <a:t>Final (C = 0.80, stated rainfall)</a:t>
                      </a:r>
                      <a:endParaRPr lang="en-US" sz="950" dirty="0"/>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4E79"/>
                    </a:solidFill>
                  </a:tcPr>
                </a:tc>
                <a:tc>
                  <a:txBody>
                    <a:bodyPr/>
                    <a:lstStyle/>
                    <a:p>
                      <a:pPr indent="0" marL="0">
                        <a:buNone/>
                      </a:pPr>
                      <a:r>
                        <a:rPr lang="en-US" sz="950" b="1" dirty="0">
                          <a:solidFill>
                            <a:srgbClr val="FFFFFF"/>
                          </a:solidFill>
                        </a:rPr>
                        <a:t>Status</a:t>
                      </a:r>
                      <a:endParaRPr lang="en-US" sz="950" dirty="0"/>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4E79"/>
                    </a:solidFill>
                  </a:tcPr>
                </a:tc>
              </a:tr>
              <a:tr h="347472">
                <a:tc>
                  <a:txBody>
                    <a:bodyPr/>
                    <a:lstStyle/>
                    <a:p>
                      <a:pPr indent="0" marL="0">
                        <a:buNone/>
                      </a:pPr>
                      <a:r>
                        <a:rPr lang="en-US" sz="950" dirty="0">
                          <a:solidFill>
                            <a:schemeClr val="tx1"/>
                          </a:solidFill>
                        </a:rPr>
                        <a:t>KITS Ramtek (flow meter)</a:t>
                      </a:r>
                      <a:endParaRPr lang="en-US" sz="950" dirty="0"/>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chemeClr val="tx1"/>
                          </a:solidFill>
                        </a:rPr>
                        <a:t>about 9%</a:t>
                      </a:r>
                      <a:endParaRPr lang="en-US" sz="950" dirty="0"/>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chemeClr val="tx1"/>
                          </a:solidFill>
                        </a:rPr>
                        <a:t>11% of potential; 19 of 215.7 m3 received</a:t>
                      </a:r>
                      <a:endParaRPr lang="en-US" sz="950" dirty="0"/>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chemeClr val="tx1"/>
                          </a:solidFill>
                        </a:rPr>
                        <a:t>Verified in CGWB 2011 p.73; observed</a:t>
                      </a:r>
                      <a:endParaRPr lang="en-US" sz="950" dirty="0"/>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347472">
                <a:tc>
                  <a:txBody>
                    <a:bodyPr/>
                    <a:lstStyle/>
                    <a:p>
                      <a:pPr indent="0" marL="0">
                        <a:buNone/>
                      </a:pPr>
                      <a:r>
                        <a:rPr lang="en-US" sz="950" dirty="0">
                          <a:solidFill>
                            <a:schemeClr val="tx1"/>
                          </a:solidFill>
                        </a:rPr>
                        <a:t>Goa University</a:t>
                      </a:r>
                      <a:endParaRPr lang="en-US" sz="950" dirty="0"/>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chemeClr val="tx1"/>
                          </a:solidFill>
                        </a:rPr>
                        <a:t>61 to 76%</a:t>
                      </a:r>
                      <a:endParaRPr lang="en-US" sz="950" dirty="0"/>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chemeClr val="tx1"/>
                          </a:solidFill>
                        </a:rPr>
                        <a:t>76% (2010); 28% (2008, partial); 19% (2009)</a:t>
                      </a:r>
                      <a:endParaRPr lang="en-US" sz="950" dirty="0"/>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chemeClr val="tx1"/>
                          </a:solidFill>
                        </a:rPr>
                        <a:t>Verified in CSE 2014; observed</a:t>
                      </a:r>
                      <a:endParaRPr lang="en-US" sz="950" dirty="0"/>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347472">
                <a:tc>
                  <a:txBody>
                    <a:bodyPr/>
                    <a:lstStyle/>
                    <a:p>
                      <a:pPr indent="0" marL="0">
                        <a:buNone/>
                      </a:pPr>
                      <a:r>
                        <a:rPr lang="en-US" sz="950" dirty="0">
                          <a:solidFill>
                            <a:schemeClr val="tx1"/>
                          </a:solidFill>
                        </a:rPr>
                        <a:t>BEL Bengaluru</a:t>
                      </a:r>
                      <a:endParaRPr lang="en-US" sz="950" dirty="0"/>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chemeClr val="tx1"/>
                          </a:solidFill>
                        </a:rPr>
                        <a:t>63 to 75%</a:t>
                      </a:r>
                      <a:endParaRPr lang="en-US" sz="950" dirty="0"/>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chemeClr val="tx1"/>
                          </a:solidFill>
                        </a:rPr>
                        <a:t>64% (IMD normal 1,077.6 mm)</a:t>
                      </a:r>
                      <a:endParaRPr lang="en-US" sz="950" dirty="0"/>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chemeClr val="tx1"/>
                          </a:solidFill>
                        </a:rPr>
                        <a:t>Verified; storage, not recharge; agency-reported</a:t>
                      </a:r>
                      <a:endParaRPr lang="en-US" sz="950" dirty="0"/>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347472">
                <a:tc>
                  <a:txBody>
                    <a:bodyPr/>
                    <a:lstStyle/>
                    <a:p>
                      <a:pPr indent="0" marL="0">
                        <a:buNone/>
                      </a:pPr>
                      <a:r>
                        <a:rPr lang="en-US" sz="950" dirty="0">
                          <a:solidFill>
                            <a:schemeClr val="tx1"/>
                          </a:solidFill>
                        </a:rPr>
                        <a:t>Panjab University</a:t>
                      </a:r>
                      <a:endParaRPr lang="en-US" sz="950" dirty="0"/>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chemeClr val="tx1"/>
                          </a:solidFill>
                        </a:rPr>
                        <a:t>about 79%</a:t>
                      </a:r>
                      <a:endParaRPr lang="en-US" sz="950" dirty="0"/>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chemeClr val="tx1"/>
                          </a:solidFill>
                        </a:rPr>
                        <a:t>112% (2,100 m2, 1,059 mm)</a:t>
                      </a:r>
                      <a:endParaRPr lang="en-US" sz="950" dirty="0"/>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chemeClr val="tx1"/>
                          </a:solidFill>
                        </a:rPr>
                        <a:t>Volume is '93% of runoff': design share; agency-reported</a:t>
                      </a:r>
                      <a:endParaRPr lang="en-US" sz="950" dirty="0"/>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347472">
                <a:tc>
                  <a:txBody>
                    <a:bodyPr/>
                    <a:lstStyle/>
                    <a:p>
                      <a:pPr indent="0" marL="0">
                        <a:buNone/>
                      </a:pPr>
                      <a:r>
                        <a:rPr lang="en-US" sz="950" dirty="0">
                          <a:solidFill>
                            <a:schemeClr val="tx1"/>
                          </a:solidFill>
                        </a:rPr>
                        <a:t>Warud (flow meter)</a:t>
                      </a:r>
                      <a:endParaRPr lang="en-US" sz="950" dirty="0"/>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chemeClr val="tx1"/>
                          </a:solidFill>
                        </a:rPr>
                        <a:t>90% (runoff assumption)</a:t>
                      </a:r>
                      <a:endParaRPr lang="en-US" sz="950" dirty="0"/>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chemeClr val="tx1"/>
                          </a:solidFill>
                        </a:rPr>
                        <a:t>112% of potential; 90% of rain received</a:t>
                      </a:r>
                      <a:endParaRPr lang="en-US" sz="950" dirty="0"/>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chemeClr val="tx1"/>
                          </a:solidFill>
                        </a:rPr>
                        <a:t>Verified in CGWB 2011 p.73; observed by rule, agency-reported in sensitivity</a:t>
                      </a:r>
                      <a:endParaRPr lang="en-US" sz="950" dirty="0"/>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347472">
                <a:tc>
                  <a:txBody>
                    <a:bodyPr/>
                    <a:lstStyle/>
                    <a:p>
                      <a:pPr indent="0" marL="0">
                        <a:buNone/>
                      </a:pPr>
                      <a:r>
                        <a:rPr lang="en-US" sz="950" dirty="0">
                          <a:solidFill>
                            <a:schemeClr val="tx1"/>
                          </a:solidFill>
                        </a:rPr>
                        <a:t>IIT Delhi Block VI</a:t>
                      </a:r>
                      <a:endParaRPr lang="en-US" sz="950" dirty="0"/>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chemeClr val="tx1"/>
                          </a:solidFill>
                        </a:rPr>
                        <a:t>not comparable (rainfall NR)</a:t>
                      </a:r>
                      <a:endParaRPr lang="en-US" sz="950" dirty="0"/>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chemeClr val="tx1"/>
                          </a:solidFill>
                        </a:rPr>
                        <a:t>82% with IMD Safdarjung normal</a:t>
                      </a:r>
                      <a:endParaRPr lang="en-US" sz="950" dirty="0"/>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chemeClr val="tx1"/>
                          </a:solidFill>
                        </a:rPr>
                        <a:t>Verified in CGWB 2011 p.44; agency-reported</a:t>
                      </a:r>
                      <a:endParaRPr lang="en-US" sz="950" dirty="0"/>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bl>
          </a:graphicData>
        </a:graphic>
      </p:graphicFrame>
      <p:sp>
        <p:nvSpPr>
          <p:cNvPr id="4" name="Text 1"/>
          <p:cNvSpPr txBox="1"/>
          <p:nvPr/>
        </p:nvSpPr>
        <p:spPr>
          <a:xfrm>
            <a:off x="457200" y="4069080"/>
            <a:ext cx="8229600" cy="640080"/>
          </a:xfrm>
          <a:prstGeom prst="rect">
            <a:avLst/>
          </a:prstGeom>
          <a:noFill/>
          <a:ln/>
        </p:spPr>
        <p:txBody>
          <a:bodyPr wrap="square" lIns="0" tIns="0" rIns="0" bIns="0" rtlCol="0" anchor="t"/>
          <a:lstStyle/>
          <a:p>
            <a:pPr indent="0" marL="0">
              <a:spcAft>
                <a:spcPts val="600"/>
              </a:spcAft>
              <a:buNone/>
            </a:pPr>
            <a:r>
              <a:rPr lang="en-US" sz="1050" dirty="0">
                <a:solidFill>
                  <a:schemeClr val="accent4"/>
                </a:solidFill>
              </a:rPr>
              <a:t>All six cases are kept. With one runoff coefficient and a stated rainfall basis, two cases (Panjab University, Warud) move above 100% of potential; a volume above potential is a design share, not a measurement. Umaid Heritage and PAU Ludhiana stay excluded (mixed catchment, no roof area); Sri Aurobindo Ashram is a design calculation.</a:t>
            </a:r>
            <a:endParaRPr lang="en-US" sz="105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2600" b="1" dirty="0">
                <a:solidFill>
                  <a:schemeClr val="tx2"/>
                </a:solidFill>
              </a:rPr>
              <a:t>Result 2: installed is not the same as working</a:t>
            </a:r>
            <a:endParaRPr lang="en-US" sz="2600" dirty="0"/>
          </a:p>
        </p:txBody>
      </p:sp>
      <p:pic>
        <p:nvPicPr>
          <p:cNvPr id="3" name="Image 0" descr="Installation shares, functional shares and the Chennai cascade">    </p:cNvPr>
          <p:cNvPicPr>
            <a:picLocks noChangeAspect="1"/>
          </p:cNvPicPr>
          <p:nvPr/>
        </p:nvPicPr>
        <p:blipFill>
          <a:blip r:embed="rId1"/>
          <a:stretch>
            <a:fillRect/>
          </a:stretch>
        </p:blipFill>
        <p:spPr>
          <a:xfrm>
            <a:off x="457200" y="1005840"/>
            <a:ext cx="8229600" cy="2094501"/>
          </a:xfrm>
          <a:prstGeom prst="rect">
            <a:avLst/>
          </a:prstGeom>
        </p:spPr>
      </p:pic>
      <p:sp>
        <p:nvSpPr>
          <p:cNvPr id="4" name="Text 1"/>
          <p:cNvSpPr txBox="1"/>
          <p:nvPr/>
        </p:nvSpPr>
        <p:spPr>
          <a:xfrm>
            <a:off x="457200" y="3657600"/>
            <a:ext cx="8229600" cy="914400"/>
          </a:xfrm>
          <a:prstGeom prst="rect">
            <a:avLst/>
          </a:prstGeom>
          <a:noFill/>
          <a:ln/>
        </p:spPr>
        <p:txBody>
          <a:bodyPr wrap="square" lIns="0" tIns="0" rIns="0" bIns="0" rtlCol="0" anchor="t"/>
          <a:lstStyle/>
          <a:p>
            <a:pPr indent="0" marL="0">
              <a:spcAft>
                <a:spcPts val="600"/>
              </a:spcAft>
              <a:buNone/>
            </a:pPr>
            <a:r>
              <a:rPr lang="en-US" sz="1150" dirty="0">
                <a:solidFill>
                  <a:schemeClr val="accent4"/>
                </a:solidFill>
              </a:rPr>
              <a:t>Installation: 60% of 2.72 lakh houses inspected in Chennai (2019), 56% in Hyderabad, 18% of connected properties in Bengaluru, below 1% in Pune and Nagpur. Functionality: 13 estimates from 12 surveys, median 40% of installed systems working (0 to 84%). Dwarka 2024: 84% structurally intact, only 32% recharging water free of faecal coliform.</a:t>
            </a:r>
            <a:endParaRPr lang="en-US" sz="115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2600" b="1" dirty="0">
                <a:solidFill>
                  <a:schemeClr val="tx2"/>
                </a:solidFill>
              </a:rPr>
              <a:t>Chennai: from mandate to water delivered</a:t>
            </a:r>
            <a:endParaRPr lang="en-US" sz="2600" dirty="0"/>
          </a:p>
        </p:txBody>
      </p:sp>
      <p:graphicFrame>
        <p:nvGraphicFramePr>
          <p:cNvPr id="3" name="Chart 0" descr=""/>
          <p:cNvGraphicFramePr/>
          <p:nvPr/>
        </p:nvGraphicFramePr>
        <p:xfrm>
          <a:off x="457200" y="1005840"/>
          <a:ext cx="4937760" cy="356616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760720" y="1097280"/>
            <a:ext cx="2926080" cy="731520"/>
          </a:xfrm>
          <a:prstGeom prst="rect">
            <a:avLst/>
          </a:prstGeom>
          <a:noFill/>
          <a:ln/>
        </p:spPr>
        <p:txBody>
          <a:bodyPr wrap="square" lIns="0" tIns="0" rIns="0" bIns="0" rtlCol="0" anchor="b"/>
          <a:lstStyle/>
          <a:p>
            <a:pPr algn="l" indent="0" marL="0">
              <a:buNone/>
            </a:pPr>
            <a:r>
              <a:rPr lang="en-US" sz="4000" b="1" dirty="0">
                <a:solidFill>
                  <a:schemeClr val="accent1"/>
                </a:solidFill>
              </a:rPr>
              <a:t>60%</a:t>
            </a:r>
            <a:endParaRPr lang="en-US" sz="4000" dirty="0"/>
          </a:p>
        </p:txBody>
      </p:sp>
      <p:sp>
        <p:nvSpPr>
          <p:cNvPr id="5" name="Text 2"/>
          <p:cNvSpPr txBox="1"/>
          <p:nvPr/>
        </p:nvSpPr>
        <p:spPr>
          <a:xfrm>
            <a:off x="5760720" y="1847088"/>
            <a:ext cx="2926080" cy="640080"/>
          </a:xfrm>
          <a:prstGeom prst="rect">
            <a:avLst/>
          </a:prstGeom>
          <a:noFill/>
          <a:ln/>
        </p:spPr>
        <p:txBody>
          <a:bodyPr wrap="square" lIns="0" tIns="0" rIns="0" bIns="0" rtlCol="0" anchor="t"/>
          <a:lstStyle/>
          <a:p>
            <a:pPr indent="0" marL="0">
              <a:buNone/>
            </a:pPr>
            <a:r>
              <a:rPr lang="en-US" sz="1200" dirty="0">
                <a:solidFill>
                  <a:schemeClr val="accent4"/>
                </a:solidFill>
              </a:rPr>
              <a:t>of 2.72 lakh inspected houses had a structure (GCC, Aug-Sep 2019 snapshot)</a:t>
            </a:r>
            <a:endParaRPr lang="en-US" sz="1200" dirty="0"/>
          </a:p>
        </p:txBody>
      </p:sp>
      <p:sp>
        <p:nvSpPr>
          <p:cNvPr id="6" name="Text 3"/>
          <p:cNvSpPr txBox="1"/>
          <p:nvPr/>
        </p:nvSpPr>
        <p:spPr>
          <a:xfrm>
            <a:off x="5760720" y="2286000"/>
            <a:ext cx="2926080" cy="731520"/>
          </a:xfrm>
          <a:prstGeom prst="rect">
            <a:avLst/>
          </a:prstGeom>
          <a:noFill/>
          <a:ln/>
        </p:spPr>
        <p:txBody>
          <a:bodyPr wrap="square" lIns="0" tIns="0" rIns="0" bIns="0" rtlCol="0" anchor="b"/>
          <a:lstStyle/>
          <a:p>
            <a:pPr algn="l" indent="0" marL="0">
              <a:buNone/>
            </a:pPr>
            <a:r>
              <a:rPr lang="en-US" sz="4000" b="1" dirty="0">
                <a:solidFill>
                  <a:schemeClr val="accent2"/>
                </a:solidFill>
              </a:rPr>
              <a:t>46%</a:t>
            </a:r>
            <a:endParaRPr lang="en-US" sz="4000" dirty="0"/>
          </a:p>
        </p:txBody>
      </p:sp>
      <p:sp>
        <p:nvSpPr>
          <p:cNvPr id="7" name="Text 4"/>
          <p:cNvSpPr txBox="1"/>
          <p:nvPr/>
        </p:nvSpPr>
        <p:spPr>
          <a:xfrm>
            <a:off x="5760720" y="3035808"/>
            <a:ext cx="2926080" cy="640080"/>
          </a:xfrm>
          <a:prstGeom prst="rect">
            <a:avLst/>
          </a:prstGeom>
          <a:noFill/>
          <a:ln/>
        </p:spPr>
        <p:txBody>
          <a:bodyPr wrap="square" lIns="0" tIns="0" rIns="0" bIns="0" rtlCol="0" anchor="t"/>
          <a:lstStyle/>
          <a:p>
            <a:pPr indent="0" marL="0">
              <a:buNone/>
            </a:pPr>
            <a:r>
              <a:rPr lang="en-US" sz="1200" dirty="0">
                <a:solidFill>
                  <a:schemeClr val="accent4"/>
                </a:solidFill>
              </a:rPr>
              <a:t>needing no repair: 77% of the 1.62 lakh structures, same inspection</a:t>
            </a:r>
            <a:endParaRPr lang="en-US" sz="1200" dirty="0"/>
          </a:p>
        </p:txBody>
      </p:sp>
      <p:sp>
        <p:nvSpPr>
          <p:cNvPr id="8" name="Text 5"/>
          <p:cNvSpPr txBox="1"/>
          <p:nvPr/>
        </p:nvSpPr>
        <p:spPr>
          <a:xfrm>
            <a:off x="5760720" y="3474720"/>
            <a:ext cx="2926080" cy="731520"/>
          </a:xfrm>
          <a:prstGeom prst="rect">
            <a:avLst/>
          </a:prstGeom>
          <a:noFill/>
          <a:ln/>
        </p:spPr>
        <p:txBody>
          <a:bodyPr wrap="square" lIns="0" tIns="0" rIns="0" bIns="0" rtlCol="0" anchor="b"/>
          <a:lstStyle/>
          <a:p>
            <a:pPr algn="l" indent="0" marL="0">
              <a:buNone/>
            </a:pPr>
            <a:r>
              <a:rPr lang="en-US" sz="4000" b="1" dirty="0">
                <a:solidFill>
                  <a:schemeClr val="tx1"/>
                </a:solidFill>
              </a:rPr>
              <a:t>13%</a:t>
            </a:r>
            <a:endParaRPr lang="en-US" sz="4000" dirty="0"/>
          </a:p>
        </p:txBody>
      </p:sp>
      <p:sp>
        <p:nvSpPr>
          <p:cNvPr id="9" name="Text 6"/>
          <p:cNvSpPr txBox="1"/>
          <p:nvPr/>
        </p:nvSpPr>
        <p:spPr>
          <a:xfrm>
            <a:off x="5760720" y="4224528"/>
            <a:ext cx="2926080" cy="640080"/>
          </a:xfrm>
          <a:prstGeom prst="rect">
            <a:avLst/>
          </a:prstGeom>
          <a:noFill/>
          <a:ln/>
        </p:spPr>
        <p:txBody>
          <a:bodyPr wrap="square" lIns="0" tIns="0" rIns="0" bIns="0" rtlCol="0" anchor="t"/>
          <a:lstStyle/>
          <a:p>
            <a:pPr indent="0" marL="0">
              <a:buNone/>
            </a:pPr>
            <a:r>
              <a:rPr lang="en-US" sz="1200" dirty="0">
                <a:solidFill>
                  <a:schemeClr val="accent4"/>
                </a:solidFill>
              </a:rPr>
              <a:t>delivered, at the observed yield ratio of 28% (12% with Warud regraded). Bengaluru by the same chain: about 2%</a:t>
            </a:r>
            <a:endParaRPr lang="en-US" sz="12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2600" b="1" dirty="0">
                <a:solidFill>
                  <a:schemeClr val="tx2"/>
                </a:solidFill>
              </a:rPr>
              <a:t>Result 3: why systems fail</a:t>
            </a:r>
            <a:endParaRPr lang="en-US" sz="2600" dirty="0"/>
          </a:p>
        </p:txBody>
      </p:sp>
      <p:pic>
        <p:nvPicPr>
          <p:cNvPr id="3" name="Image 0" descr="Reported reasons systems fail, by number of sources">    </p:cNvPr>
          <p:cNvPicPr>
            <a:picLocks noChangeAspect="1"/>
          </p:cNvPicPr>
          <p:nvPr/>
        </p:nvPicPr>
        <p:blipFill>
          <a:blip r:embed="rId1"/>
          <a:stretch>
            <a:fillRect/>
          </a:stretch>
        </p:blipFill>
        <p:spPr>
          <a:xfrm>
            <a:off x="457200" y="1051560"/>
            <a:ext cx="4754880" cy="2276069"/>
          </a:xfrm>
          <a:prstGeom prst="rect">
            <a:avLst/>
          </a:prstGeom>
        </p:spPr>
      </p:pic>
      <p:sp>
        <p:nvSpPr>
          <p:cNvPr id="4" name="Shape 1"/>
          <p:cNvSpPr/>
          <p:nvPr/>
        </p:nvSpPr>
        <p:spPr>
          <a:xfrm>
            <a:off x="5486400" y="1051560"/>
            <a:ext cx="3200400" cy="3566160"/>
          </a:xfrm>
          <a:prstGeom prst="roundRect">
            <a:avLst>
              <a:gd name="adj" fmla="val 2286"/>
            </a:avLst>
          </a:prstGeom>
          <a:solidFill>
            <a:srgbClr val="EEF3FB"/>
          </a:solidFill>
          <a:ln w="12700">
            <a:solidFill>
              <a:srgbClr val="EEF3FB"/>
            </a:solidFill>
            <a:prstDash val="solid"/>
          </a:ln>
        </p:spPr>
      </p:sp>
      <p:sp>
        <p:nvSpPr>
          <p:cNvPr id="5" name="Text 2"/>
          <p:cNvSpPr txBox="1"/>
          <p:nvPr/>
        </p:nvSpPr>
        <p:spPr>
          <a:xfrm>
            <a:off x="5623560" y="1143000"/>
            <a:ext cx="2926080" cy="365760"/>
          </a:xfrm>
          <a:prstGeom prst="rect">
            <a:avLst/>
          </a:prstGeom>
          <a:noFill/>
          <a:ln/>
        </p:spPr>
        <p:txBody>
          <a:bodyPr wrap="square" lIns="0" tIns="0" rIns="0" bIns="0" rtlCol="0" anchor="ctr"/>
          <a:lstStyle/>
          <a:p>
            <a:pPr indent="0" marL="0">
              <a:buNone/>
            </a:pPr>
            <a:r>
              <a:rPr lang="en-US" sz="1400" b="1" dirty="0">
                <a:solidFill>
                  <a:schemeClr val="tx2"/>
                </a:solidFill>
              </a:rPr>
              <a:t>Management causes are cited more often than component faults</a:t>
            </a:r>
            <a:endParaRPr lang="en-US" sz="1400" dirty="0"/>
          </a:p>
        </p:txBody>
      </p:sp>
      <p:sp>
        <p:nvSpPr>
          <p:cNvPr id="6" name="Text 3"/>
          <p:cNvSpPr txBox="1"/>
          <p:nvPr/>
        </p:nvSpPr>
        <p:spPr>
          <a:xfrm>
            <a:off x="5623560" y="1508760"/>
            <a:ext cx="2926080" cy="3017520"/>
          </a:xfrm>
          <a:prstGeom prst="rect">
            <a:avLst/>
          </a:prstGeom>
          <a:noFill/>
          <a:ln/>
        </p:spPr>
        <p:txBody>
          <a:bodyPr wrap="square" lIns="0" tIns="0" rIns="0" bIns="0" rtlCol="0" anchor="t"/>
          <a:lstStyle/>
          <a:p>
            <a:pPr indent="0" marL="0">
              <a:spcAft>
                <a:spcPts val="400"/>
              </a:spcAft>
              <a:buNone/>
            </a:pPr>
            <a:r>
              <a:rPr lang="en-US" sz="1150" dirty="0">
                <a:solidFill>
                  <a:schemeClr val="tx1"/>
                </a:solidFill>
              </a:rPr>
              <a:t>No maintenance, abandoned: 18 sources</a:t>
            </a:r>
            <a:endParaRPr lang="en-US" sz="1150" dirty="0"/>
          </a:p>
          <a:p>
            <a:pPr indent="0" marL="0">
              <a:spcAft>
                <a:spcPts val="400"/>
              </a:spcAft>
              <a:buNone/>
            </a:pPr>
            <a:r>
              <a:rPr lang="en-US" sz="1150" dirty="0">
                <a:solidFill>
                  <a:schemeClr val="tx1"/>
                </a:solidFill>
              </a:rPr>
              <a:t>No awareness, incentive or enforcement: 15 sources</a:t>
            </a:r>
            <a:endParaRPr lang="en-US" sz="1150" dirty="0"/>
          </a:p>
          <a:p>
            <a:pPr indent="0" marL="0">
              <a:spcAft>
                <a:spcPts val="400"/>
              </a:spcAft>
              <a:buNone/>
            </a:pPr>
            <a:r>
              <a:rPr lang="en-US" sz="1150" dirty="0">
                <a:solidFill>
                  <a:schemeClr val="tx1"/>
                </a:solidFill>
              </a:rPr>
              <a:t>Poor design or construction: 15 sources</a:t>
            </a:r>
            <a:endParaRPr lang="en-US" sz="1150" dirty="0"/>
          </a:p>
          <a:p>
            <a:pPr indent="0" marL="0">
              <a:spcAft>
                <a:spcPts val="400"/>
              </a:spcAft>
              <a:buNone/>
            </a:pPr>
            <a:r>
              <a:rPr lang="en-US" sz="1150" dirty="0">
                <a:solidFill>
                  <a:schemeClr val="tx1"/>
                </a:solidFill>
              </a:rPr>
              <a:t>Token structure, built for compliance only: 10 sources</a:t>
            </a:r>
            <a:endParaRPr lang="en-US" sz="1150" dirty="0"/>
          </a:p>
          <a:p>
            <a:pPr indent="0" marL="0">
              <a:spcAft>
                <a:spcPts val="400"/>
              </a:spcAft>
              <a:buNone/>
            </a:pPr>
            <a:endParaRPr lang="en-US" sz="1150" dirty="0"/>
          </a:p>
          <a:p>
            <a:pPr indent="0" marL="0">
              <a:spcAft>
                <a:spcPts val="400"/>
              </a:spcAft>
              <a:buNone/>
            </a:pPr>
            <a:r>
              <a:rPr lang="en-US" sz="1150" dirty="0">
                <a:solidFill>
                  <a:schemeClr val="tx1"/>
                </a:solidFill>
              </a:rPr>
              <a:t>No maintenance is cited most often; missing incentive or enforcement ties with poor design or construction. Silted pits (7), disconnected downpipes (6) and clogged filters (3) are the faults a routine inspection would catch.</a:t>
            </a:r>
            <a:endParaRPr lang="en-US" sz="1150" dirty="0"/>
          </a:p>
        </p:txBody>
      </p:sp>
      <p:sp>
        <p:nvSpPr>
          <p:cNvPr id="7" name="Text 4"/>
          <p:cNvSpPr txBox="1"/>
          <p:nvPr/>
        </p:nvSpPr>
        <p:spPr>
          <a:xfrm>
            <a:off x="457200" y="4069080"/>
            <a:ext cx="4754880" cy="457200"/>
          </a:xfrm>
          <a:prstGeom prst="rect">
            <a:avLst/>
          </a:prstGeom>
          <a:noFill/>
          <a:ln/>
        </p:spPr>
        <p:txBody>
          <a:bodyPr wrap="square" lIns="0" tIns="0" rIns="0" bIns="0" rtlCol="0" anchor="t"/>
          <a:lstStyle/>
          <a:p>
            <a:pPr indent="0" marL="0">
              <a:spcAft>
                <a:spcPts val="600"/>
              </a:spcAft>
              <a:buNone/>
            </a:pPr>
            <a:r>
              <a:rPr lang="en-US" sz="1100" dirty="0">
                <a:solidFill>
                  <a:schemeClr val="accent4"/>
                </a:solidFill>
              </a:rPr>
              <a:t>90 mentions from 40 surveys, audits and reports, counted by distinct source, 11 categories.</a:t>
            </a:r>
            <a:endParaRPr lang="en-US" sz="11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2600" b="1" dirty="0">
                <a:solidFill>
                  <a:schemeClr val="tx2"/>
                </a:solidFill>
              </a:rPr>
              <a:t>Result 4: cheap at design yield, below tanker prices at observed yield</a:t>
            </a:r>
            <a:endParaRPr lang="en-US" sz="2600" dirty="0"/>
          </a:p>
        </p:txBody>
      </p:sp>
      <p:pic>
        <p:nvPicPr>
          <p:cNvPr id="3" name="Image 0" descr="Levelised cost per kilolitre by building scale">    </p:cNvPr>
          <p:cNvPicPr>
            <a:picLocks noChangeAspect="1"/>
          </p:cNvPicPr>
          <p:nvPr/>
        </p:nvPicPr>
        <p:blipFill>
          <a:blip r:embed="rId1"/>
          <a:stretch>
            <a:fillRect/>
          </a:stretch>
        </p:blipFill>
        <p:spPr>
          <a:xfrm>
            <a:off x="457200" y="1051560"/>
            <a:ext cx="4649940" cy="2377440"/>
          </a:xfrm>
          <a:prstGeom prst="rect">
            <a:avLst/>
          </a:prstGeom>
        </p:spPr>
      </p:pic>
      <p:sp>
        <p:nvSpPr>
          <p:cNvPr id="4" name="Text 1"/>
          <p:cNvSpPr txBox="1"/>
          <p:nvPr/>
        </p:nvSpPr>
        <p:spPr>
          <a:xfrm>
            <a:off x="5852160" y="1005840"/>
            <a:ext cx="2834640" cy="731520"/>
          </a:xfrm>
          <a:prstGeom prst="rect">
            <a:avLst/>
          </a:prstGeom>
          <a:noFill/>
          <a:ln/>
        </p:spPr>
        <p:txBody>
          <a:bodyPr wrap="square" lIns="0" tIns="0" rIns="0" bIns="0" rtlCol="0" anchor="b"/>
          <a:lstStyle/>
          <a:p>
            <a:pPr algn="l" indent="0" marL="0">
              <a:buNone/>
            </a:pPr>
            <a:r>
              <a:rPr lang="en-US" sz="4000" b="1" dirty="0">
                <a:solidFill>
                  <a:schemeClr val="accent1"/>
                </a:solidFill>
              </a:rPr>
              <a:t>Rs 21/kL</a:t>
            </a:r>
            <a:endParaRPr lang="en-US" sz="4000" dirty="0"/>
          </a:p>
        </p:txBody>
      </p:sp>
      <p:sp>
        <p:nvSpPr>
          <p:cNvPr id="5" name="Text 2"/>
          <p:cNvSpPr txBox="1"/>
          <p:nvPr/>
        </p:nvSpPr>
        <p:spPr>
          <a:xfrm>
            <a:off x="5852160" y="1755648"/>
            <a:ext cx="2834640" cy="640080"/>
          </a:xfrm>
          <a:prstGeom prst="rect">
            <a:avLst/>
          </a:prstGeom>
          <a:noFill/>
          <a:ln/>
        </p:spPr>
        <p:txBody>
          <a:bodyPr wrap="square" lIns="0" tIns="0" rIns="0" bIns="0" rtlCol="0" anchor="t"/>
          <a:lstStyle/>
          <a:p>
            <a:pPr indent="0" marL="0">
              <a:buNone/>
            </a:pPr>
            <a:r>
              <a:rPr lang="en-US" sz="1200" dirty="0">
                <a:solidFill>
                  <a:schemeClr val="accent4"/>
                </a:solidFill>
              </a:rPr>
              <a:t>median levelised cost at design yield, 27 systems (IQR 7 to 66); recharge Rs 15, storage Rs 43</a:t>
            </a:r>
            <a:endParaRPr lang="en-US" sz="1200" dirty="0"/>
          </a:p>
        </p:txBody>
      </p:sp>
      <p:sp>
        <p:nvSpPr>
          <p:cNvPr id="6" name="Text 3"/>
          <p:cNvSpPr txBox="1"/>
          <p:nvPr/>
        </p:nvSpPr>
        <p:spPr>
          <a:xfrm>
            <a:off x="5852160" y="2606040"/>
            <a:ext cx="2834640" cy="731520"/>
          </a:xfrm>
          <a:prstGeom prst="rect">
            <a:avLst/>
          </a:prstGeom>
          <a:noFill/>
          <a:ln/>
        </p:spPr>
        <p:txBody>
          <a:bodyPr wrap="square" lIns="0" tIns="0" rIns="0" bIns="0" rtlCol="0" anchor="b"/>
          <a:lstStyle/>
          <a:p>
            <a:pPr algn="l" indent="0" marL="0">
              <a:buNone/>
            </a:pPr>
            <a:r>
              <a:rPr lang="en-US" sz="4000" b="1" dirty="0">
                <a:solidFill>
                  <a:schemeClr val="accent2"/>
                </a:solidFill>
              </a:rPr>
              <a:t>Rs 42/kL</a:t>
            </a:r>
            <a:endParaRPr lang="en-US" sz="4000" dirty="0"/>
          </a:p>
        </p:txBody>
      </p:sp>
      <p:sp>
        <p:nvSpPr>
          <p:cNvPr id="7" name="Text 4"/>
          <p:cNvSpPr txBox="1"/>
          <p:nvPr/>
        </p:nvSpPr>
        <p:spPr>
          <a:xfrm>
            <a:off x="5852160" y="3355848"/>
            <a:ext cx="2834640" cy="640080"/>
          </a:xfrm>
          <a:prstGeom prst="rect">
            <a:avLst/>
          </a:prstGeom>
          <a:noFill/>
          <a:ln/>
        </p:spPr>
        <p:txBody>
          <a:bodyPr wrap="square" lIns="0" tIns="0" rIns="0" bIns="0" rtlCol="0" anchor="t"/>
          <a:lstStyle/>
          <a:p>
            <a:pPr indent="0" marL="0">
              <a:buNone/>
            </a:pPr>
            <a:r>
              <a:rPr lang="en-US" sz="1200" dirty="0">
                <a:solidFill>
                  <a:schemeClr val="accent4"/>
                </a:solidFill>
              </a:rPr>
              <a:t>at observed yield (multiplier 2.0): within piped tariffs (Rs 7 to 48), below desalination (Rs 68) and tankers (Rs 78 to 375)</a:t>
            </a:r>
            <a:endParaRPr lang="en-US" sz="1200" dirty="0"/>
          </a:p>
        </p:txBody>
      </p:sp>
      <p:sp>
        <p:nvSpPr>
          <p:cNvPr id="8" name="Text 5"/>
          <p:cNvSpPr txBox="1"/>
          <p:nvPr/>
        </p:nvSpPr>
        <p:spPr>
          <a:xfrm>
            <a:off x="457200" y="3520440"/>
            <a:ext cx="5120640" cy="1188720"/>
          </a:xfrm>
          <a:prstGeom prst="rect">
            <a:avLst/>
          </a:prstGeom>
          <a:noFill/>
          <a:ln/>
        </p:spPr>
        <p:txBody>
          <a:bodyPr wrap="square" lIns="0" tIns="0" rIns="0" bIns="0" rtlCol="0" anchor="t"/>
          <a:lstStyle/>
          <a:p>
            <a:pPr marL="342900" indent="-342900">
              <a:spcAft>
                <a:spcPts val="600"/>
              </a:spcAft>
              <a:buSzPct val="100000"/>
              <a:buChar char="•"/>
            </a:pPr>
            <a:r>
              <a:rPr lang="en-US" sz="1050" dirty="0">
                <a:solidFill>
                  <a:schemeClr val="tx1"/>
                </a:solidFill>
              </a:rPr>
              <a:t>Cost per kL falls steeply with catchment area (Spearman rho = -0.74, p &lt; 0.001); scale groups not separable at these counts (Kruskal-Wallis p = 0.56)</a:t>
            </a:r>
            <a:endParaRPr lang="en-US" sz="1050" dirty="0"/>
          </a:p>
          <a:p>
            <a:pPr marL="342900" indent="-342900">
              <a:spcAft>
                <a:spcPts val="600"/>
              </a:spcAft>
              <a:buSzPct val="100000"/>
              <a:buChar char="•"/>
            </a:pPr>
            <a:r>
              <a:rPr lang="en-US" sz="1050" dirty="0">
                <a:solidFill>
                  <a:schemeClr val="tx1"/>
                </a:solidFill>
              </a:rPr>
              <a:t>Twenty rows are CSE Delhi projects of 2000 to 2004 (median Rs 13); the five post-2010 rows median Rs 98, about Rs 199 at observed yield, inside the tanker range. 2024 rupees, 15-year life, 8% (Rs 29 at 15%), O&amp;M 2%</a:t>
            </a:r>
            <a:endParaRPr lang="en-US" sz="105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Unmeasured and under-delivering; reported failures point to enforcement</a:t>
            </a:r>
            <a:endParaRPr lang="en-US" sz="2200" dirty="0"/>
          </a:p>
        </p:txBody>
      </p:sp>
      <p:sp>
        <p:nvSpPr>
          <p:cNvPr id="3" name="Text 1"/>
          <p:cNvSpPr txBox="1"/>
          <p:nvPr/>
        </p:nvSpPr>
        <p:spPr>
          <a:xfrm>
            <a:off x="457200" y="1051560"/>
            <a:ext cx="4206240" cy="356616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FFFFFF"/>
                </a:solidFill>
              </a:rPr>
              <a:t>The mandates increased installation. Agencies report what they designed; we found only five metered sites, and those deliver about a quarter of potential.</a:t>
            </a:r>
            <a:endParaRPr lang="en-US" sz="1300" dirty="0"/>
          </a:p>
          <a:p>
            <a:pPr marL="342900" indent="-342900">
              <a:spcAft>
                <a:spcPts val="800"/>
              </a:spcAft>
              <a:buSzPct val="100000"/>
              <a:buChar char="•"/>
            </a:pPr>
            <a:r>
              <a:rPr lang="en-US" sz="1300" dirty="0">
                <a:solidFill>
                  <a:srgbClr val="FFFFFF"/>
                </a:solidFill>
              </a:rPr>
              <a:t>Structures installed is an output indicator. Water delivered is the outcome. The mandates count structures, not water.</a:t>
            </a:r>
            <a:endParaRPr lang="en-US" sz="1300" dirty="0"/>
          </a:p>
          <a:p>
            <a:pPr marL="342900" indent="-342900">
              <a:spcAft>
                <a:spcPts val="800"/>
              </a:spcAft>
              <a:buSzPct val="100000"/>
              <a:buChar char="•"/>
            </a:pPr>
            <a:r>
              <a:rPr lang="en-US" sz="1300" dirty="0">
                <a:solidFill>
                  <a:srgbClr val="FFFFFF"/>
                </a:solidFill>
              </a:rPr>
              <a:t>Reported failures point to maintenance and enforcement first; the technical faults listed are ones an inspection would catch.</a:t>
            </a:r>
            <a:endParaRPr lang="en-US" sz="1300" dirty="0"/>
          </a:p>
          <a:p>
            <a:pPr marL="342900" indent="-342900">
              <a:spcAft>
                <a:spcPts val="800"/>
              </a:spcAft>
              <a:buSzPct val="100000"/>
              <a:buChar char="•"/>
            </a:pPr>
            <a:r>
              <a:rPr lang="en-US" sz="1300" dirty="0">
                <a:solidFill>
                  <a:srgbClr val="FFFFFF"/>
                </a:solidFill>
              </a:rPr>
              <a:t>Cost: within piped tariffs at design yield and below tanker prices even at observed yield for the median system. For an owner, recharge still costs more than piped water while the benefit is shared, so incentives matter.</a:t>
            </a:r>
            <a:endParaRPr lang="en-US" sz="1300" dirty="0"/>
          </a:p>
        </p:txBody>
      </p:sp>
      <p:sp>
        <p:nvSpPr>
          <p:cNvPr id="4" name="Shape 2"/>
          <p:cNvSpPr/>
          <p:nvPr/>
        </p:nvSpPr>
        <p:spPr>
          <a:xfrm>
            <a:off x="4937760" y="1051560"/>
            <a:ext cx="3749040" cy="1051560"/>
          </a:xfrm>
          <a:prstGeom prst="roundRect">
            <a:avLst>
              <a:gd name="adj" fmla="val 6957"/>
            </a:avLst>
          </a:prstGeom>
          <a:solidFill>
            <a:srgbClr val="1F4E79"/>
          </a:solidFill>
          <a:ln w="12700">
            <a:solidFill>
              <a:srgbClr val="1F4E79"/>
            </a:solidFill>
            <a:prstDash val="solid"/>
          </a:ln>
        </p:spPr>
      </p:sp>
      <p:sp>
        <p:nvSpPr>
          <p:cNvPr id="5" name="Text 3"/>
          <p:cNvSpPr txBox="1"/>
          <p:nvPr/>
        </p:nvSpPr>
        <p:spPr>
          <a:xfrm>
            <a:off x="5074920" y="1097280"/>
            <a:ext cx="3474720" cy="320040"/>
          </a:xfrm>
          <a:prstGeom prst="rect">
            <a:avLst/>
          </a:prstGeom>
          <a:noFill/>
          <a:ln/>
        </p:spPr>
        <p:txBody>
          <a:bodyPr wrap="square" lIns="0" tIns="0" rIns="0" bIns="0" rtlCol="0" anchor="ctr"/>
          <a:lstStyle/>
          <a:p>
            <a:pPr indent="0" marL="0">
              <a:buNone/>
            </a:pPr>
            <a:r>
              <a:rPr lang="en-US" sz="1300" b="1" dirty="0">
                <a:solidFill>
                  <a:srgbClr val="CADCFC"/>
                </a:solidFill>
              </a:rPr>
              <a:t>1. Measure</a:t>
            </a:r>
            <a:endParaRPr lang="en-US" sz="1300" dirty="0"/>
          </a:p>
        </p:txBody>
      </p:sp>
      <p:sp>
        <p:nvSpPr>
          <p:cNvPr id="6" name="Text 4"/>
          <p:cNvSpPr txBox="1"/>
          <p:nvPr/>
        </p:nvSpPr>
        <p:spPr>
          <a:xfrm>
            <a:off x="5074920" y="1417320"/>
            <a:ext cx="3474720" cy="685800"/>
          </a:xfrm>
          <a:prstGeom prst="rect">
            <a:avLst/>
          </a:prstGeom>
          <a:noFill/>
          <a:ln/>
        </p:spPr>
        <p:txBody>
          <a:bodyPr wrap="square" lIns="0" tIns="0" rIns="0" bIns="0" rtlCol="0" anchor="t"/>
          <a:lstStyle/>
          <a:p>
            <a:pPr indent="0" marL="0">
              <a:buNone/>
            </a:pPr>
            <a:r>
              <a:rPr lang="en-US" sz="1050" dirty="0">
                <a:solidFill>
                  <a:srgbClr val="FFFFFF"/>
                </a:solidFill>
              </a:rPr>
              <a:t>Require a flow meter or recharge-well level logger on systems above a size threshold, so performance can be verified at all.</a:t>
            </a:r>
            <a:endParaRPr lang="en-US" sz="1050" dirty="0"/>
          </a:p>
        </p:txBody>
      </p:sp>
      <p:sp>
        <p:nvSpPr>
          <p:cNvPr id="7" name="Shape 5"/>
          <p:cNvSpPr/>
          <p:nvPr/>
        </p:nvSpPr>
        <p:spPr>
          <a:xfrm>
            <a:off x="4937760" y="2240280"/>
            <a:ext cx="3749040" cy="1051560"/>
          </a:xfrm>
          <a:prstGeom prst="roundRect">
            <a:avLst>
              <a:gd name="adj" fmla="val 6957"/>
            </a:avLst>
          </a:prstGeom>
          <a:solidFill>
            <a:srgbClr val="1F4E79"/>
          </a:solidFill>
          <a:ln w="12700">
            <a:solidFill>
              <a:srgbClr val="1F4E79"/>
            </a:solidFill>
            <a:prstDash val="solid"/>
          </a:ln>
        </p:spPr>
      </p:sp>
      <p:sp>
        <p:nvSpPr>
          <p:cNvPr id="8" name="Text 6"/>
          <p:cNvSpPr txBox="1"/>
          <p:nvPr/>
        </p:nvSpPr>
        <p:spPr>
          <a:xfrm>
            <a:off x="5074920" y="2286000"/>
            <a:ext cx="3474720" cy="320040"/>
          </a:xfrm>
          <a:prstGeom prst="rect">
            <a:avLst/>
          </a:prstGeom>
          <a:noFill/>
          <a:ln/>
        </p:spPr>
        <p:txBody>
          <a:bodyPr wrap="square" lIns="0" tIns="0" rIns="0" bIns="0" rtlCol="0" anchor="ctr"/>
          <a:lstStyle/>
          <a:p>
            <a:pPr indent="0" marL="0">
              <a:buNone/>
            </a:pPr>
            <a:r>
              <a:rPr lang="en-US" sz="1300" b="1" dirty="0">
                <a:solidFill>
                  <a:srgbClr val="CADCFC"/>
                </a:solidFill>
              </a:rPr>
              <a:t>2. Inspect, then pay</a:t>
            </a:r>
            <a:endParaRPr lang="en-US" sz="1300" dirty="0"/>
          </a:p>
        </p:txBody>
      </p:sp>
      <p:sp>
        <p:nvSpPr>
          <p:cNvPr id="9" name="Text 7"/>
          <p:cNvSpPr txBox="1"/>
          <p:nvPr/>
        </p:nvSpPr>
        <p:spPr>
          <a:xfrm>
            <a:off x="5074920" y="2606040"/>
            <a:ext cx="3474720" cy="685800"/>
          </a:xfrm>
          <a:prstGeom prst="rect">
            <a:avLst/>
          </a:prstGeom>
          <a:noFill/>
          <a:ln/>
        </p:spPr>
        <p:txBody>
          <a:bodyPr wrap="square" lIns="0" tIns="0" rIns="0" bIns="0" rtlCol="0" anchor="t"/>
          <a:lstStyle/>
          <a:p>
            <a:pPr indent="0" marL="0">
              <a:buNone/>
            </a:pPr>
            <a:r>
              <a:rPr lang="en-US" sz="1050" dirty="0">
                <a:solidFill>
                  <a:srgbClr val="FFFFFF"/>
                </a:solidFill>
              </a:rPr>
              <a:t>Tie rebates and penalties to a periodic functional inspection, not a one-time completion certificate. Dwarka shows intact structures can recharge contaminated water.</a:t>
            </a:r>
            <a:endParaRPr lang="en-US" sz="1050" dirty="0"/>
          </a:p>
        </p:txBody>
      </p:sp>
      <p:sp>
        <p:nvSpPr>
          <p:cNvPr id="10" name="Shape 8"/>
          <p:cNvSpPr/>
          <p:nvPr/>
        </p:nvSpPr>
        <p:spPr>
          <a:xfrm>
            <a:off x="4937760" y="3429000"/>
            <a:ext cx="3749040" cy="1051560"/>
          </a:xfrm>
          <a:prstGeom prst="roundRect">
            <a:avLst>
              <a:gd name="adj" fmla="val 6957"/>
            </a:avLst>
          </a:prstGeom>
          <a:solidFill>
            <a:srgbClr val="1F4E79"/>
          </a:solidFill>
          <a:ln w="12700">
            <a:solidFill>
              <a:srgbClr val="1F4E79"/>
            </a:solidFill>
            <a:prstDash val="solid"/>
          </a:ln>
        </p:spPr>
      </p:sp>
      <p:sp>
        <p:nvSpPr>
          <p:cNvPr id="11" name="Text 9"/>
          <p:cNvSpPr txBox="1"/>
          <p:nvPr/>
        </p:nvSpPr>
        <p:spPr>
          <a:xfrm>
            <a:off x="5074920" y="3474720"/>
            <a:ext cx="3474720" cy="320040"/>
          </a:xfrm>
          <a:prstGeom prst="rect">
            <a:avLst/>
          </a:prstGeom>
          <a:noFill/>
          <a:ln/>
        </p:spPr>
        <p:txBody>
          <a:bodyPr wrap="square" lIns="0" tIns="0" rIns="0" bIns="0" rtlCol="0" anchor="ctr"/>
          <a:lstStyle/>
          <a:p>
            <a:pPr indent="0" marL="0">
              <a:buNone/>
            </a:pPr>
            <a:r>
              <a:rPr lang="en-US" sz="1300" b="1" dirty="0">
                <a:solidFill>
                  <a:srgbClr val="CADCFC"/>
                </a:solidFill>
              </a:rPr>
              <a:t>3. Publish</a:t>
            </a:r>
            <a:endParaRPr lang="en-US" sz="1300" dirty="0"/>
          </a:p>
        </p:txBody>
      </p:sp>
      <p:sp>
        <p:nvSpPr>
          <p:cNvPr id="12" name="Text 10"/>
          <p:cNvSpPr txBox="1"/>
          <p:nvPr/>
        </p:nvSpPr>
        <p:spPr>
          <a:xfrm>
            <a:off x="5074920" y="3794760"/>
            <a:ext cx="3474720" cy="685800"/>
          </a:xfrm>
          <a:prstGeom prst="rect">
            <a:avLst/>
          </a:prstGeom>
          <a:noFill/>
          <a:ln/>
        </p:spPr>
        <p:txBody>
          <a:bodyPr wrap="square" lIns="0" tIns="0" rIns="0" bIns="0" rtlCol="0" anchor="t"/>
          <a:lstStyle/>
          <a:p>
            <a:pPr indent="0" marL="0">
              <a:buNone/>
            </a:pPr>
            <a:r>
              <a:rPr lang="en-US" sz="1050" dirty="0">
                <a:solidFill>
                  <a:srgbClr val="FFFFFF"/>
                </a:solidFill>
              </a:rPr>
              <a:t>Report installed-versus-functional counts every year, as Chennai did in 2019, so the gap is visible.</a:t>
            </a:r>
            <a:endParaRPr lang="en-US" sz="105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FB3D9"/>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2600" b="1" dirty="0">
                <a:solidFill>
                  <a:schemeClr val="tx2"/>
                </a:solidFill>
              </a:rPr>
              <a:t>Limitations</a:t>
            </a:r>
            <a:endParaRPr lang="en-US" sz="2600" dirty="0"/>
          </a:p>
        </p:txBody>
      </p:sp>
      <p:sp>
        <p:nvSpPr>
          <p:cNvPr id="3" name="Shape 1"/>
          <p:cNvSpPr/>
          <p:nvPr/>
        </p:nvSpPr>
        <p:spPr>
          <a:xfrm>
            <a:off x="457200" y="1051560"/>
            <a:ext cx="4023360" cy="1691640"/>
          </a:xfrm>
          <a:prstGeom prst="roundRect">
            <a:avLst>
              <a:gd name="adj" fmla="val 4324"/>
            </a:avLst>
          </a:prstGeom>
          <a:solidFill>
            <a:srgbClr val="EEF3FB"/>
          </a:solidFill>
          <a:ln w="12700">
            <a:solidFill>
              <a:srgbClr val="EEF3FB"/>
            </a:solidFill>
            <a:prstDash val="solid"/>
          </a:ln>
        </p:spPr>
      </p:sp>
      <p:sp>
        <p:nvSpPr>
          <p:cNvPr id="4" name="Text 2"/>
          <p:cNvSpPr txBox="1"/>
          <p:nvPr/>
        </p:nvSpPr>
        <p:spPr>
          <a:xfrm>
            <a:off x="594360" y="1143000"/>
            <a:ext cx="3749040" cy="365760"/>
          </a:xfrm>
          <a:prstGeom prst="rect">
            <a:avLst/>
          </a:prstGeom>
          <a:noFill/>
          <a:ln/>
        </p:spPr>
        <p:txBody>
          <a:bodyPr wrap="square" lIns="0" tIns="0" rIns="0" bIns="0" rtlCol="0" anchor="ctr"/>
          <a:lstStyle/>
          <a:p>
            <a:pPr indent="0" marL="0">
              <a:buNone/>
            </a:pPr>
            <a:r>
              <a:rPr lang="en-US" sz="1400" b="1" dirty="0">
                <a:solidFill>
                  <a:schemeClr val="tx2"/>
                </a:solidFill>
              </a:rPr>
              <a:t>Small observed tier</a:t>
            </a:r>
            <a:endParaRPr lang="en-US" sz="1400" dirty="0"/>
          </a:p>
        </p:txBody>
      </p:sp>
      <p:sp>
        <p:nvSpPr>
          <p:cNvPr id="5" name="Text 3"/>
          <p:cNvSpPr txBox="1"/>
          <p:nvPr/>
        </p:nvSpPr>
        <p:spPr>
          <a:xfrm>
            <a:off x="594360" y="1508760"/>
            <a:ext cx="3749040" cy="1143000"/>
          </a:xfrm>
          <a:prstGeom prst="rect">
            <a:avLst/>
          </a:prstGeom>
          <a:noFill/>
          <a:ln/>
        </p:spPr>
        <p:txBody>
          <a:bodyPr wrap="square" lIns="0" tIns="0" rIns="0" bIns="0" rtlCol="0" anchor="t"/>
          <a:lstStyle/>
          <a:p>
            <a:pPr indent="0" marL="0">
              <a:spcAft>
                <a:spcPts val="400"/>
              </a:spcAft>
              <a:buNone/>
            </a:pPr>
            <a:r>
              <a:rPr lang="en-US" sz="1150" dirty="0">
                <a:solidFill>
                  <a:schemeClr val="tx1"/>
                </a:solidFill>
              </a:rPr>
              <a:t>7 observations at 5 sites, two of them storage-limited houses and one borderline (Warud). The 28% figure is indicative, not representative. Publication bias favours showcase systems, so the true gap is probably larger. Ramtek's low ratio is partly an intake limit of the dug well.</a:t>
            </a:r>
            <a:endParaRPr lang="en-US" sz="1150" dirty="0"/>
          </a:p>
        </p:txBody>
      </p:sp>
      <p:sp>
        <p:nvSpPr>
          <p:cNvPr id="6" name="Shape 4"/>
          <p:cNvSpPr/>
          <p:nvPr/>
        </p:nvSpPr>
        <p:spPr>
          <a:xfrm>
            <a:off x="4663440" y="1051560"/>
            <a:ext cx="4023360" cy="1691640"/>
          </a:xfrm>
          <a:prstGeom prst="roundRect">
            <a:avLst>
              <a:gd name="adj" fmla="val 4324"/>
            </a:avLst>
          </a:prstGeom>
          <a:solidFill>
            <a:srgbClr val="EEF3FB"/>
          </a:solidFill>
          <a:ln w="12700">
            <a:solidFill>
              <a:srgbClr val="EEF3FB"/>
            </a:solidFill>
            <a:prstDash val="solid"/>
          </a:ln>
        </p:spPr>
      </p:sp>
      <p:sp>
        <p:nvSpPr>
          <p:cNvPr id="7" name="Text 5"/>
          <p:cNvSpPr txBox="1"/>
          <p:nvPr/>
        </p:nvSpPr>
        <p:spPr>
          <a:xfrm>
            <a:off x="4800600" y="1143000"/>
            <a:ext cx="3749040" cy="365760"/>
          </a:xfrm>
          <a:prstGeom prst="rect">
            <a:avLst/>
          </a:prstGeom>
          <a:noFill/>
          <a:ln/>
        </p:spPr>
        <p:txBody>
          <a:bodyPr wrap="square" lIns="0" tIns="0" rIns="0" bIns="0" rtlCol="0" anchor="ctr"/>
          <a:lstStyle/>
          <a:p>
            <a:pPr indent="0" marL="0">
              <a:buNone/>
            </a:pPr>
            <a:r>
              <a:rPr lang="en-US" sz="1400" b="1" dirty="0">
                <a:solidFill>
                  <a:schemeClr val="tx2"/>
                </a:solidFill>
              </a:rPr>
              <a:t>Heterogeneous inputs</a:t>
            </a:r>
            <a:endParaRPr lang="en-US" sz="1400" dirty="0"/>
          </a:p>
        </p:txBody>
      </p:sp>
      <p:sp>
        <p:nvSpPr>
          <p:cNvPr id="8" name="Text 6"/>
          <p:cNvSpPr txBox="1"/>
          <p:nvPr/>
        </p:nvSpPr>
        <p:spPr>
          <a:xfrm>
            <a:off x="4800600" y="1508760"/>
            <a:ext cx="3749040" cy="1143000"/>
          </a:xfrm>
          <a:prstGeom prst="rect">
            <a:avLst/>
          </a:prstGeom>
          <a:noFill/>
          <a:ln/>
        </p:spPr>
        <p:txBody>
          <a:bodyPr wrap="square" lIns="0" tIns="0" rIns="0" bIns="0" rtlCol="0" anchor="t"/>
          <a:lstStyle/>
          <a:p>
            <a:pPr indent="0" marL="0">
              <a:spcAft>
                <a:spcPts val="400"/>
              </a:spcAft>
              <a:buNone/>
            </a:pPr>
            <a:r>
              <a:rPr lang="en-US" sz="1150" dirty="0">
                <a:solidFill>
                  <a:schemeClr val="tx1"/>
                </a:solidFill>
              </a:rPr>
              <a:t>Four observations use an IMD city normal and four a CSE city average, not the year's rainfall. Panjab University's area and volume come from different documents. CSE design calculations use roof plus paved area.</a:t>
            </a:r>
            <a:endParaRPr lang="en-US" sz="1150" dirty="0"/>
          </a:p>
        </p:txBody>
      </p:sp>
      <p:sp>
        <p:nvSpPr>
          <p:cNvPr id="9" name="Shape 7"/>
          <p:cNvSpPr/>
          <p:nvPr/>
        </p:nvSpPr>
        <p:spPr>
          <a:xfrm>
            <a:off x="457200" y="2880360"/>
            <a:ext cx="4023360" cy="1691640"/>
          </a:xfrm>
          <a:prstGeom prst="roundRect">
            <a:avLst>
              <a:gd name="adj" fmla="val 4324"/>
            </a:avLst>
          </a:prstGeom>
          <a:solidFill>
            <a:srgbClr val="EEF3FB"/>
          </a:solidFill>
          <a:ln w="12700">
            <a:solidFill>
              <a:srgbClr val="EEF3FB"/>
            </a:solidFill>
            <a:prstDash val="solid"/>
          </a:ln>
        </p:spPr>
      </p:sp>
      <p:sp>
        <p:nvSpPr>
          <p:cNvPr id="10" name="Text 8"/>
          <p:cNvSpPr txBox="1"/>
          <p:nvPr/>
        </p:nvSpPr>
        <p:spPr>
          <a:xfrm>
            <a:off x="594360" y="2971800"/>
            <a:ext cx="3749040" cy="365760"/>
          </a:xfrm>
          <a:prstGeom prst="rect">
            <a:avLst/>
          </a:prstGeom>
          <a:noFill/>
          <a:ln/>
        </p:spPr>
        <p:txBody>
          <a:bodyPr wrap="square" lIns="0" tIns="0" rIns="0" bIns="0" rtlCol="0" anchor="ctr"/>
          <a:lstStyle/>
          <a:p>
            <a:pPr indent="0" marL="0">
              <a:buNone/>
            </a:pPr>
            <a:r>
              <a:rPr lang="en-US" sz="1400" b="1" dirty="0">
                <a:solidFill>
                  <a:schemeClr val="tx2"/>
                </a:solidFill>
              </a:rPr>
              <a:t>Surveys differ</a:t>
            </a:r>
            <a:endParaRPr lang="en-US" sz="1400" dirty="0"/>
          </a:p>
        </p:txBody>
      </p:sp>
      <p:sp>
        <p:nvSpPr>
          <p:cNvPr id="11" name="Text 9"/>
          <p:cNvSpPr txBox="1"/>
          <p:nvPr/>
        </p:nvSpPr>
        <p:spPr>
          <a:xfrm>
            <a:off x="594360" y="3337560"/>
            <a:ext cx="3749040" cy="1143000"/>
          </a:xfrm>
          <a:prstGeom prst="rect">
            <a:avLst/>
          </a:prstGeom>
          <a:noFill/>
          <a:ln/>
        </p:spPr>
        <p:txBody>
          <a:bodyPr wrap="square" lIns="0" tIns="0" rIns="0" bIns="0" rtlCol="0" anchor="t"/>
          <a:lstStyle/>
          <a:p>
            <a:pPr indent="0" marL="0">
              <a:spcAft>
                <a:spcPts val="400"/>
              </a:spcAft>
              <a:buNone/>
            </a:pPr>
            <a:r>
              <a:rPr lang="en-US" sz="1150" dirty="0">
                <a:solidFill>
                  <a:schemeClr val="tx1"/>
                </a:solidFill>
              </a:rPr>
              <a:t>Definitions range from 'needing no repair' to 'dry pit'; two estimates come from one Dwarka report and one is an expert estimate. Several figures reach us only through press reports; originals cited where found.</a:t>
            </a:r>
            <a:endParaRPr lang="en-US" sz="1150" dirty="0"/>
          </a:p>
        </p:txBody>
      </p:sp>
      <p:sp>
        <p:nvSpPr>
          <p:cNvPr id="12" name="Shape 10"/>
          <p:cNvSpPr/>
          <p:nvPr/>
        </p:nvSpPr>
        <p:spPr>
          <a:xfrm>
            <a:off x="4663440" y="2880360"/>
            <a:ext cx="4023360" cy="1691640"/>
          </a:xfrm>
          <a:prstGeom prst="roundRect">
            <a:avLst>
              <a:gd name="adj" fmla="val 4324"/>
            </a:avLst>
          </a:prstGeom>
          <a:solidFill>
            <a:srgbClr val="EEF3FB"/>
          </a:solidFill>
          <a:ln w="12700">
            <a:solidFill>
              <a:srgbClr val="EEF3FB"/>
            </a:solidFill>
            <a:prstDash val="solid"/>
          </a:ln>
        </p:spPr>
      </p:sp>
      <p:sp>
        <p:nvSpPr>
          <p:cNvPr id="13" name="Text 11"/>
          <p:cNvSpPr txBox="1"/>
          <p:nvPr/>
        </p:nvSpPr>
        <p:spPr>
          <a:xfrm>
            <a:off x="4800600" y="2971800"/>
            <a:ext cx="3749040" cy="365760"/>
          </a:xfrm>
          <a:prstGeom prst="rect">
            <a:avLst/>
          </a:prstGeom>
          <a:noFill/>
          <a:ln/>
        </p:spPr>
        <p:txBody>
          <a:bodyPr wrap="square" lIns="0" tIns="0" rIns="0" bIns="0" rtlCol="0" anchor="ctr"/>
          <a:lstStyle/>
          <a:p>
            <a:pPr indent="0" marL="0">
              <a:buNone/>
            </a:pPr>
            <a:r>
              <a:rPr lang="en-US" sz="1400" b="1" dirty="0">
                <a:solidFill>
                  <a:schemeClr val="tx2"/>
                </a:solidFill>
              </a:rPr>
              <a:t>Costs and causality</a:t>
            </a:r>
            <a:endParaRPr lang="en-US" sz="1400" dirty="0"/>
          </a:p>
        </p:txBody>
      </p:sp>
      <p:sp>
        <p:nvSpPr>
          <p:cNvPr id="14" name="Text 12"/>
          <p:cNvSpPr txBox="1"/>
          <p:nvPr/>
        </p:nvSpPr>
        <p:spPr>
          <a:xfrm>
            <a:off x="4800600" y="3337560"/>
            <a:ext cx="3749040" cy="1143000"/>
          </a:xfrm>
          <a:prstGeom prst="rect">
            <a:avLst/>
          </a:prstGeom>
          <a:noFill/>
          <a:ln/>
        </p:spPr>
        <p:txBody>
          <a:bodyPr wrap="square" lIns="0" tIns="0" rIns="0" bIns="0" rtlCol="0" anchor="t"/>
          <a:lstStyle/>
          <a:p>
            <a:pPr indent="0" marL="0">
              <a:spcAft>
                <a:spcPts val="400"/>
              </a:spcAft>
              <a:buNone/>
            </a:pPr>
            <a:r>
              <a:rPr lang="en-US" sz="1150" dirty="0">
                <a:solidFill>
                  <a:schemeClr val="tx1"/>
                </a:solidFill>
              </a:rPr>
              <a:t>Cost rows are dominated by one programme (CSE Delhi, 2000 to 2004) and depend on the discount rate. Associations are not causal; a weak private incentive to maintain recharge pits is a competing explanation. All of these show why metering is needed.</a:t>
            </a:r>
            <a:endParaRPr lang="en-US" sz="115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2600" b="1" dirty="0">
                <a:solidFill>
                  <a:schemeClr val="tx2"/>
                </a:solidFill>
              </a:rPr>
              <a:t>Contributions and what is submitted</a:t>
            </a:r>
            <a:endParaRPr lang="en-US" sz="2600" dirty="0"/>
          </a:p>
        </p:txBody>
      </p:sp>
      <p:sp>
        <p:nvSpPr>
          <p:cNvPr id="3" name="Shape 1"/>
          <p:cNvSpPr/>
          <p:nvPr/>
        </p:nvSpPr>
        <p:spPr>
          <a:xfrm>
            <a:off x="457200" y="1051560"/>
            <a:ext cx="4023360" cy="731520"/>
          </a:xfrm>
          <a:prstGeom prst="roundRect">
            <a:avLst>
              <a:gd name="adj" fmla="val 10000"/>
            </a:avLst>
          </a:prstGeom>
          <a:solidFill>
            <a:srgbClr val="EEF3FB"/>
          </a:solidFill>
          <a:ln w="12700">
            <a:solidFill>
              <a:srgbClr val="EEF3FB"/>
            </a:solidFill>
            <a:prstDash val="solid"/>
          </a:ln>
        </p:spPr>
      </p:sp>
      <p:sp>
        <p:nvSpPr>
          <p:cNvPr id="4" name="Text 2"/>
          <p:cNvSpPr txBox="1"/>
          <p:nvPr/>
        </p:nvSpPr>
        <p:spPr>
          <a:xfrm>
            <a:off x="594360" y="1143000"/>
            <a:ext cx="3749040" cy="365760"/>
          </a:xfrm>
          <a:prstGeom prst="rect">
            <a:avLst/>
          </a:prstGeom>
          <a:noFill/>
          <a:ln/>
        </p:spPr>
        <p:txBody>
          <a:bodyPr wrap="square" lIns="0" tIns="0" rIns="0" bIns="0" rtlCol="0" anchor="ctr"/>
          <a:lstStyle/>
          <a:p>
            <a:pPr indent="0" marL="0">
              <a:buNone/>
            </a:pPr>
            <a:r>
              <a:rPr lang="en-US" sz="1400" b="1" dirty="0">
                <a:solidFill>
                  <a:schemeClr val="tx2"/>
                </a:solidFill>
              </a:rPr>
              <a:t>Vedant Abhangrao</a:t>
            </a:r>
            <a:endParaRPr lang="en-US" sz="1400" dirty="0"/>
          </a:p>
        </p:txBody>
      </p:sp>
      <p:sp>
        <p:nvSpPr>
          <p:cNvPr id="5" name="Text 3"/>
          <p:cNvSpPr txBox="1"/>
          <p:nvPr/>
        </p:nvSpPr>
        <p:spPr>
          <a:xfrm>
            <a:off x="594360" y="1508760"/>
            <a:ext cx="3749040" cy="182880"/>
          </a:xfrm>
          <a:prstGeom prst="rect">
            <a:avLst/>
          </a:prstGeom>
          <a:noFill/>
          <a:ln/>
        </p:spPr>
        <p:txBody>
          <a:bodyPr wrap="square" lIns="0" tIns="0" rIns="0" bIns="0" rtlCol="0" anchor="t"/>
          <a:lstStyle/>
          <a:p>
            <a:pPr indent="0" marL="0">
              <a:spcAft>
                <a:spcPts val="400"/>
              </a:spcAft>
              <a:buNone/>
            </a:pPr>
            <a:r>
              <a:rPr lang="en-US" sz="1150" dirty="0">
                <a:solidFill>
                  <a:schemeClr val="tx1"/>
                </a:solidFill>
              </a:rPr>
              <a:t>Search strategy, screening log, mandate search</a:t>
            </a:r>
            <a:endParaRPr lang="en-US" sz="1150" dirty="0"/>
          </a:p>
        </p:txBody>
      </p:sp>
      <p:sp>
        <p:nvSpPr>
          <p:cNvPr id="6" name="Shape 4"/>
          <p:cNvSpPr/>
          <p:nvPr/>
        </p:nvSpPr>
        <p:spPr>
          <a:xfrm>
            <a:off x="457200" y="1874520"/>
            <a:ext cx="4023360" cy="731520"/>
          </a:xfrm>
          <a:prstGeom prst="roundRect">
            <a:avLst>
              <a:gd name="adj" fmla="val 10000"/>
            </a:avLst>
          </a:prstGeom>
          <a:solidFill>
            <a:srgbClr val="EEF3FB"/>
          </a:solidFill>
          <a:ln w="12700">
            <a:solidFill>
              <a:srgbClr val="EEF3FB"/>
            </a:solidFill>
            <a:prstDash val="solid"/>
          </a:ln>
        </p:spPr>
      </p:sp>
      <p:sp>
        <p:nvSpPr>
          <p:cNvPr id="7" name="Text 5"/>
          <p:cNvSpPr txBox="1"/>
          <p:nvPr/>
        </p:nvSpPr>
        <p:spPr>
          <a:xfrm>
            <a:off x="594360" y="1965960"/>
            <a:ext cx="3749040" cy="365760"/>
          </a:xfrm>
          <a:prstGeom prst="rect">
            <a:avLst/>
          </a:prstGeom>
          <a:noFill/>
          <a:ln/>
        </p:spPr>
        <p:txBody>
          <a:bodyPr wrap="square" lIns="0" tIns="0" rIns="0" bIns="0" rtlCol="0" anchor="ctr"/>
          <a:lstStyle/>
          <a:p>
            <a:pPr indent="0" marL="0">
              <a:buNone/>
            </a:pPr>
            <a:r>
              <a:rPr lang="en-US" sz="1400" b="1" dirty="0">
                <a:solidFill>
                  <a:schemeClr val="tx2"/>
                </a:solidFill>
              </a:rPr>
              <a:t>Nilay Shahapure</a:t>
            </a:r>
            <a:endParaRPr lang="en-US" sz="1400" dirty="0"/>
          </a:p>
        </p:txBody>
      </p:sp>
      <p:sp>
        <p:nvSpPr>
          <p:cNvPr id="8" name="Text 6"/>
          <p:cNvSpPr txBox="1"/>
          <p:nvPr/>
        </p:nvSpPr>
        <p:spPr>
          <a:xfrm>
            <a:off x="594360" y="2331720"/>
            <a:ext cx="3749040" cy="182880"/>
          </a:xfrm>
          <a:prstGeom prst="rect">
            <a:avLst/>
          </a:prstGeom>
          <a:noFill/>
          <a:ln/>
        </p:spPr>
        <p:txBody>
          <a:bodyPr wrap="square" lIns="0" tIns="0" rIns="0" bIns="0" rtlCol="0" anchor="t"/>
          <a:lstStyle/>
          <a:p>
            <a:pPr indent="0" marL="0">
              <a:spcAft>
                <a:spcPts val="400"/>
              </a:spcAft>
              <a:buNone/>
            </a:pPr>
            <a:r>
              <a:rPr lang="en-US" sz="1150" dirty="0">
                <a:solidFill>
                  <a:schemeClr val="tx1"/>
                </a:solidFill>
              </a:rPr>
              <a:t>Data harmonisation, analysis code, figures, supplementary document</a:t>
            </a:r>
            <a:endParaRPr lang="en-US" sz="1150" dirty="0"/>
          </a:p>
        </p:txBody>
      </p:sp>
      <p:sp>
        <p:nvSpPr>
          <p:cNvPr id="9" name="Shape 7"/>
          <p:cNvSpPr/>
          <p:nvPr/>
        </p:nvSpPr>
        <p:spPr>
          <a:xfrm>
            <a:off x="457200" y="2697480"/>
            <a:ext cx="4023360" cy="731520"/>
          </a:xfrm>
          <a:prstGeom prst="roundRect">
            <a:avLst>
              <a:gd name="adj" fmla="val 10000"/>
            </a:avLst>
          </a:prstGeom>
          <a:solidFill>
            <a:srgbClr val="EEF3FB"/>
          </a:solidFill>
          <a:ln w="12700">
            <a:solidFill>
              <a:srgbClr val="EEF3FB"/>
            </a:solidFill>
            <a:prstDash val="solid"/>
          </a:ln>
        </p:spPr>
      </p:sp>
      <p:sp>
        <p:nvSpPr>
          <p:cNvPr id="10" name="Text 8"/>
          <p:cNvSpPr txBox="1"/>
          <p:nvPr/>
        </p:nvSpPr>
        <p:spPr>
          <a:xfrm>
            <a:off x="594360" y="2788920"/>
            <a:ext cx="3749040" cy="365760"/>
          </a:xfrm>
          <a:prstGeom prst="rect">
            <a:avLst/>
          </a:prstGeom>
          <a:noFill/>
          <a:ln/>
        </p:spPr>
        <p:txBody>
          <a:bodyPr wrap="square" lIns="0" tIns="0" rIns="0" bIns="0" rtlCol="0" anchor="ctr"/>
          <a:lstStyle/>
          <a:p>
            <a:pPr indent="0" marL="0">
              <a:buNone/>
            </a:pPr>
            <a:r>
              <a:rPr lang="en-US" sz="1400" b="1" dirty="0">
                <a:solidFill>
                  <a:schemeClr val="tx2"/>
                </a:solidFill>
              </a:rPr>
              <a:t>Arjun Jhunjhunwala</a:t>
            </a:r>
            <a:endParaRPr lang="en-US" sz="1400" dirty="0"/>
          </a:p>
        </p:txBody>
      </p:sp>
      <p:sp>
        <p:nvSpPr>
          <p:cNvPr id="11" name="Text 9"/>
          <p:cNvSpPr txBox="1"/>
          <p:nvPr/>
        </p:nvSpPr>
        <p:spPr>
          <a:xfrm>
            <a:off x="594360" y="3154680"/>
            <a:ext cx="3749040" cy="182880"/>
          </a:xfrm>
          <a:prstGeom prst="rect">
            <a:avLst/>
          </a:prstGeom>
          <a:noFill/>
          <a:ln/>
        </p:spPr>
        <p:txBody>
          <a:bodyPr wrap="square" lIns="0" tIns="0" rIns="0" bIns="0" rtlCol="0" anchor="t"/>
          <a:lstStyle/>
          <a:p>
            <a:pPr indent="0" marL="0">
              <a:spcAft>
                <a:spcPts val="400"/>
              </a:spcAft>
              <a:buNone/>
            </a:pPr>
            <a:r>
              <a:rPr lang="en-US" sz="1150" dirty="0">
                <a:solidFill>
                  <a:schemeClr val="tx1"/>
                </a:solidFill>
              </a:rPr>
              <a:t>Cost and benchmark search, deflation, levelised cost</a:t>
            </a:r>
            <a:endParaRPr lang="en-US" sz="1150" dirty="0"/>
          </a:p>
        </p:txBody>
      </p:sp>
      <p:sp>
        <p:nvSpPr>
          <p:cNvPr id="12" name="Shape 10"/>
          <p:cNvSpPr/>
          <p:nvPr/>
        </p:nvSpPr>
        <p:spPr>
          <a:xfrm>
            <a:off x="457200" y="3520440"/>
            <a:ext cx="4023360" cy="731520"/>
          </a:xfrm>
          <a:prstGeom prst="roundRect">
            <a:avLst>
              <a:gd name="adj" fmla="val 10000"/>
            </a:avLst>
          </a:prstGeom>
          <a:solidFill>
            <a:srgbClr val="EEF3FB"/>
          </a:solidFill>
          <a:ln w="12700">
            <a:solidFill>
              <a:srgbClr val="EEF3FB"/>
            </a:solidFill>
            <a:prstDash val="solid"/>
          </a:ln>
        </p:spPr>
      </p:sp>
      <p:sp>
        <p:nvSpPr>
          <p:cNvPr id="13" name="Text 11"/>
          <p:cNvSpPr txBox="1"/>
          <p:nvPr/>
        </p:nvSpPr>
        <p:spPr>
          <a:xfrm>
            <a:off x="594360" y="3611880"/>
            <a:ext cx="3749040" cy="365760"/>
          </a:xfrm>
          <a:prstGeom prst="rect">
            <a:avLst/>
          </a:prstGeom>
          <a:noFill/>
          <a:ln/>
        </p:spPr>
        <p:txBody>
          <a:bodyPr wrap="square" lIns="0" tIns="0" rIns="0" bIns="0" rtlCol="0" anchor="ctr"/>
          <a:lstStyle/>
          <a:p>
            <a:pPr indent="0" marL="0">
              <a:buNone/>
            </a:pPr>
            <a:r>
              <a:rPr lang="en-US" sz="1400" b="1" dirty="0">
                <a:solidFill>
                  <a:schemeClr val="tx2"/>
                </a:solidFill>
              </a:rPr>
              <a:t>Yash Krishnani</a:t>
            </a:r>
            <a:endParaRPr lang="en-US" sz="1400" dirty="0"/>
          </a:p>
        </p:txBody>
      </p:sp>
      <p:sp>
        <p:nvSpPr>
          <p:cNvPr id="14" name="Text 12"/>
          <p:cNvSpPr txBox="1"/>
          <p:nvPr/>
        </p:nvSpPr>
        <p:spPr>
          <a:xfrm>
            <a:off x="594360" y="3977640"/>
            <a:ext cx="3749040" cy="182880"/>
          </a:xfrm>
          <a:prstGeom prst="rect">
            <a:avLst/>
          </a:prstGeom>
          <a:noFill/>
          <a:ln/>
        </p:spPr>
        <p:txBody>
          <a:bodyPr wrap="square" lIns="0" tIns="0" rIns="0" bIns="0" rtlCol="0" anchor="t"/>
          <a:lstStyle/>
          <a:p>
            <a:pPr indent="0" marL="0">
              <a:spcAft>
                <a:spcPts val="400"/>
              </a:spcAft>
              <a:buNone/>
            </a:pPr>
            <a:r>
              <a:rPr lang="en-US" sz="1150" dirty="0">
                <a:solidFill>
                  <a:schemeClr val="tx1"/>
                </a:solidFill>
              </a:rPr>
              <a:t>Functionality and failure-mode search, report, presentation</a:t>
            </a:r>
            <a:endParaRPr lang="en-US" sz="1150" dirty="0"/>
          </a:p>
        </p:txBody>
      </p:sp>
      <p:sp>
        <p:nvSpPr>
          <p:cNvPr id="15" name="Shape 13"/>
          <p:cNvSpPr/>
          <p:nvPr/>
        </p:nvSpPr>
        <p:spPr>
          <a:xfrm>
            <a:off x="4663440" y="1051560"/>
            <a:ext cx="4023360" cy="3337560"/>
          </a:xfrm>
          <a:prstGeom prst="roundRect">
            <a:avLst>
              <a:gd name="adj" fmla="val 2192"/>
            </a:avLst>
          </a:prstGeom>
          <a:solidFill>
            <a:srgbClr val="EEF3FB"/>
          </a:solidFill>
          <a:ln w="12700">
            <a:solidFill>
              <a:srgbClr val="EEF3FB"/>
            </a:solidFill>
            <a:prstDash val="solid"/>
          </a:ln>
        </p:spPr>
      </p:sp>
      <p:sp>
        <p:nvSpPr>
          <p:cNvPr id="16" name="Text 14"/>
          <p:cNvSpPr txBox="1"/>
          <p:nvPr/>
        </p:nvSpPr>
        <p:spPr>
          <a:xfrm>
            <a:off x="4800600" y="1143000"/>
            <a:ext cx="3749040" cy="365760"/>
          </a:xfrm>
          <a:prstGeom prst="rect">
            <a:avLst/>
          </a:prstGeom>
          <a:noFill/>
          <a:ln/>
        </p:spPr>
        <p:txBody>
          <a:bodyPr wrap="square" lIns="0" tIns="0" rIns="0" bIns="0" rtlCol="0" anchor="ctr"/>
          <a:lstStyle/>
          <a:p>
            <a:pPr indent="0" marL="0">
              <a:buNone/>
            </a:pPr>
            <a:r>
              <a:rPr lang="en-US" sz="1400" b="1" dirty="0">
                <a:solidFill>
                  <a:schemeClr val="tx2"/>
                </a:solidFill>
              </a:rPr>
              <a:t>Submitted</a:t>
            </a:r>
            <a:endParaRPr lang="en-US" sz="1400" dirty="0"/>
          </a:p>
        </p:txBody>
      </p:sp>
      <p:sp>
        <p:nvSpPr>
          <p:cNvPr id="17" name="Text 15"/>
          <p:cNvSpPr txBox="1"/>
          <p:nvPr/>
        </p:nvSpPr>
        <p:spPr>
          <a:xfrm>
            <a:off x="4800600" y="1508760"/>
            <a:ext cx="3749040" cy="2788920"/>
          </a:xfrm>
          <a:prstGeom prst="rect">
            <a:avLst/>
          </a:prstGeom>
          <a:noFill/>
          <a:ln/>
        </p:spPr>
        <p:txBody>
          <a:bodyPr wrap="square" lIns="0" tIns="0" rIns="0" bIns="0" rtlCol="0" anchor="t"/>
          <a:lstStyle/>
          <a:p>
            <a:pPr indent="0" marL="0">
              <a:spcAft>
                <a:spcPts val="400"/>
              </a:spcAft>
              <a:buNone/>
            </a:pPr>
            <a:r>
              <a:rPr lang="en-US" sz="1150" dirty="0">
                <a:solidFill>
                  <a:schemeClr val="tx1"/>
                </a:solidFill>
              </a:rPr>
              <a:t>Report (2 pages, IMRaD) and Supplementary Information (15 pages: full tables, screening log, midway reconciliation, 168 source URLs)</a:t>
            </a:r>
            <a:endParaRPr lang="en-US" sz="1150" dirty="0"/>
          </a:p>
          <a:p>
            <a:pPr indent="0" marL="0">
              <a:spcAft>
                <a:spcPts val="400"/>
              </a:spcAft>
              <a:buNone/>
            </a:pPr>
            <a:endParaRPr lang="en-US" sz="1150" dirty="0"/>
          </a:p>
          <a:p>
            <a:pPr indent="0" marL="0">
              <a:spcAft>
                <a:spcPts val="400"/>
              </a:spcAft>
              <a:buNone/>
            </a:pPr>
            <a:r>
              <a:rPr lang="en-US" sz="1150" dirty="0">
                <a:solidFill>
                  <a:schemeClr val="tx1"/>
                </a:solidFill>
              </a:rPr>
              <a:t>Data: harmonised dataset for performance, cost, functionality, installation, failure modes and mandates; source extraction tables with a URL and verbatim quote for every number</a:t>
            </a:r>
            <a:endParaRPr lang="en-US" sz="1150" dirty="0"/>
          </a:p>
          <a:p>
            <a:pPr indent="0" marL="0">
              <a:spcAft>
                <a:spcPts val="400"/>
              </a:spcAft>
              <a:buNone/>
            </a:pPr>
            <a:endParaRPr lang="en-US" sz="1150" dirty="0"/>
          </a:p>
          <a:p>
            <a:pPr indent="0" marL="0">
              <a:spcAft>
                <a:spcPts val="400"/>
              </a:spcAft>
              <a:buNone/>
            </a:pPr>
            <a:r>
              <a:rPr lang="en-US" sz="1150" dirty="0">
                <a:solidFill>
                  <a:schemeClr val="tx1"/>
                </a:solidFill>
              </a:rPr>
              <a:t>Code: Python scripts that rebuild the dataset, statistics, figures and tables</a:t>
            </a:r>
            <a:endParaRPr lang="en-US" sz="1150" dirty="0"/>
          </a:p>
          <a:p>
            <a:pPr indent="0" marL="0">
              <a:spcAft>
                <a:spcPts val="400"/>
              </a:spcAft>
              <a:buNone/>
            </a:pPr>
            <a:endParaRPr lang="en-US" sz="1150" dirty="0"/>
          </a:p>
          <a:p>
            <a:pPr indent="0" marL="0">
              <a:spcAft>
                <a:spcPts val="400"/>
              </a:spcAft>
              <a:buNone/>
            </a:pPr>
            <a:r>
              <a:rPr lang="en-US" sz="1150" dirty="0">
                <a:solidFill>
                  <a:schemeClr val="tx1"/>
                </a:solidFill>
              </a:rPr>
              <a:t>Every number in the report is traceable to a source URL and a verbatim quote.</a:t>
            </a:r>
            <a:endParaRPr lang="en-US" sz="1150" dirty="0"/>
          </a:p>
        </p:txBody>
      </p:sp>
      <p:sp>
        <p:nvSpPr>
          <p:cNvPr id="18" name="Text 16"/>
          <p:cNvSpPr txBox="1"/>
          <p:nvPr/>
        </p:nvSpPr>
        <p:spPr>
          <a:xfrm>
            <a:off x="457200" y="4480560"/>
            <a:ext cx="4023360" cy="256032"/>
          </a:xfrm>
          <a:prstGeom prst="rect">
            <a:avLst/>
          </a:prstGeom>
          <a:noFill/>
          <a:ln/>
        </p:spPr>
        <p:txBody>
          <a:bodyPr wrap="square" lIns="0" tIns="0" rIns="0" bIns="0" rtlCol="0" anchor="t"/>
          <a:lstStyle/>
          <a:p>
            <a:pPr indent="0" marL="0">
              <a:spcAft>
                <a:spcPts val="600"/>
              </a:spcAft>
              <a:buNone/>
            </a:pPr>
            <a:r>
              <a:rPr lang="en-US" sz="950" dirty="0">
                <a:solidFill>
                  <a:schemeClr val="accent4"/>
                </a:solidFill>
              </a:rPr>
              <a:t>All four members extracted records and cross-checked each other's rows against the source quotes.</a:t>
            </a:r>
            <a:endParaRPr lang="en-US" sz="95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l"/>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MIRAGE water">
  <a:themeElements>
    <a:clrScheme name="MIRAGE water">
      <a:dk1>
        <a:srgbClr val="0F2A3F"/>
      </a:dk1>
      <a:lt1>
        <a:srgbClr val="FFFFFF"/>
      </a:lt1>
      <a:dk2>
        <a:srgbClr val="1F4E79"/>
      </a:dk2>
      <a:lt2>
        <a:srgbClr val="EEF3FB"/>
      </a:lt2>
      <a:accent1>
        <a:srgbClr val="2A78D6"/>
      </a:accent1>
      <a:accent2>
        <a:srgbClr val="EB6834"/>
      </a:accent2>
      <a:accent3>
        <a:srgbClr val="6250D6"/>
      </a:accent3>
      <a:accent4>
        <a:srgbClr val="52514E"/>
      </a:accent4>
      <a:accent5>
        <a:srgbClr val="8A8984"/>
      </a:accent5>
      <a:accent6>
        <a:srgbClr val="1BAF7A"/>
      </a:accent6>
      <a:hlink>
        <a:srgbClr val="2A78D6"/>
      </a:hlink>
      <a:folHlink>
        <a:srgbClr val="6250D6"/>
      </a:folHlink>
    </a:clrScheme>
    <a:fontScheme name="MIRAGE wate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MIRAGE: Measuring the Impact and Reality of Rainwater Harvesting Mandates</dc:title>
  <dc:subject>PptxGenJS Presentation</dc:subject>
  <dc:creator>MIRAGE team, CM617</dc:creator>
  <cp:lastModifiedBy>MIRAGE team, CM617</cp:lastModifiedBy>
  <cp:revision>1</cp:revision>
  <dcterms:created xsi:type="dcterms:W3CDTF">2026-10-25T14:53:24Z</dcterms:created>
  <dcterms:modified xsi:type="dcterms:W3CDTF">2026-10-25T14:53:24Z</dcterms:modified>
</cp:coreProperties>
</file>